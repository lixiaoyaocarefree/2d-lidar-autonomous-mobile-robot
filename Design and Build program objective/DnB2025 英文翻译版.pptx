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  <p:sldMasterId id="2147483866" r:id="rId2"/>
    <p:sldMasterId id="2147483887" r:id="rId3"/>
  </p:sldMasterIdLst>
  <p:notesMasterIdLst>
    <p:notesMasterId r:id="rId18"/>
  </p:notesMasterIdLst>
  <p:handoutMasterIdLst>
    <p:handoutMasterId r:id="rId19"/>
  </p:handoutMasterIdLst>
  <p:sldIdLst>
    <p:sldId id="376" r:id="rId4"/>
    <p:sldId id="409" r:id="rId5"/>
    <p:sldId id="408" r:id="rId6"/>
    <p:sldId id="410" r:id="rId7"/>
    <p:sldId id="411" r:id="rId8"/>
    <p:sldId id="402" r:id="rId9"/>
    <p:sldId id="412" r:id="rId10"/>
    <p:sldId id="413" r:id="rId11"/>
    <p:sldId id="404" r:id="rId12"/>
    <p:sldId id="421" r:id="rId13"/>
    <p:sldId id="417" r:id="rId14"/>
    <p:sldId id="422" r:id="rId15"/>
    <p:sldId id="423" r:id="rId16"/>
    <p:sldId id="352" r:id="rId17"/>
  </p:sldIdLst>
  <p:sldSz cx="9144000" cy="5143500" type="screen16x9"/>
  <p:notesSz cx="6858000" cy="9144000"/>
  <p:defaultTextStyle>
    <a:defPPr>
      <a:defRPr lang="en-US"/>
    </a:defPPr>
    <a:lvl1pPr marL="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 templates" id="{7DD0B69D-9948-46F3-B07D-8BF81D90CAFD}">
          <p14:sldIdLst>
            <p14:sldId id="376"/>
            <p14:sldId id="409"/>
            <p14:sldId id="408"/>
            <p14:sldId id="410"/>
            <p14:sldId id="411"/>
            <p14:sldId id="402"/>
            <p14:sldId id="412"/>
            <p14:sldId id="413"/>
            <p14:sldId id="404"/>
            <p14:sldId id="421"/>
            <p14:sldId id="417"/>
            <p14:sldId id="422"/>
            <p14:sldId id="423"/>
            <p14:sldId id="3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008C"/>
    <a:srgbClr val="2DB8C5"/>
    <a:srgbClr val="1C3D74"/>
    <a:srgbClr val="1F7791"/>
    <a:srgbClr val="73B82B"/>
    <a:srgbClr val="8D3786"/>
    <a:srgbClr val="F18500"/>
    <a:srgbClr val="FFFFFF"/>
    <a:srgbClr val="12338F"/>
    <a:srgbClr val="107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38" autoAdjust="0"/>
    <p:restoredTop sz="89036" autoAdjust="0"/>
  </p:normalViewPr>
  <p:slideViewPr>
    <p:cSldViewPr snapToGrid="0" snapToObjects="1">
      <p:cViewPr varScale="1">
        <p:scale>
          <a:sx n="257" d="100"/>
          <a:sy n="257" d="100"/>
        </p:scale>
        <p:origin x="1816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5" d="100"/>
          <a:sy n="55" d="100"/>
        </p:scale>
        <p:origin x="2604" y="28"/>
      </p:cViewPr>
      <p:guideLst/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7.xml" Type="http://schemas.openxmlformats.org/officeDocument/2006/relationships/slide"/><Relationship Id="rId11" Target="slides/slide8.xml" Type="http://schemas.openxmlformats.org/officeDocument/2006/relationships/slide"/><Relationship Id="rId12" Target="slides/slide9.xml" Type="http://schemas.openxmlformats.org/officeDocument/2006/relationships/slide"/><Relationship Id="rId13" Target="slides/slide10.xml" Type="http://schemas.openxmlformats.org/officeDocument/2006/relationships/slide"/><Relationship Id="rId14" Target="slides/slide11.xml" Type="http://schemas.openxmlformats.org/officeDocument/2006/relationships/slide"/><Relationship Id="rId15" Target="slides/slide12.xml" Type="http://schemas.openxmlformats.org/officeDocument/2006/relationships/slide"/><Relationship Id="rId16" Target="slides/slide13.xml" Type="http://schemas.openxmlformats.org/officeDocument/2006/relationships/slide"/><Relationship Id="rId17" Target="slides/slide14.xml" Type="http://schemas.openxmlformats.org/officeDocument/2006/relationships/slide"/><Relationship Id="rId18" Target="notesMasters/notesMaster1.xml" Type="http://schemas.openxmlformats.org/officeDocument/2006/relationships/notesMaster"/><Relationship Id="rId19" Target="handoutMasters/handoutMaster1.xml" Type="http://schemas.openxmlformats.org/officeDocument/2006/relationships/handoutMaster"/><Relationship Id="rId2" Target="slideMasters/slideMaster2.xml" Type="http://schemas.openxmlformats.org/officeDocument/2006/relationships/slideMaster"/><Relationship Id="rId20" Target="presProps.xml" Type="http://schemas.openxmlformats.org/officeDocument/2006/relationships/presProps"/><Relationship Id="rId21" Target="viewProps.xml" Type="http://schemas.openxmlformats.org/officeDocument/2006/relationships/viewProps"/><Relationship Id="rId22" Target="theme/theme1.xml" Type="http://schemas.openxmlformats.org/officeDocument/2006/relationships/theme"/><Relationship Id="rId23" Target="tableStyles.xml" Type="http://schemas.openxmlformats.org/officeDocument/2006/relationships/tableStyles"/><Relationship Id="rId3" Target="slideMasters/slideMaster3.xml" Type="http://schemas.openxmlformats.org/officeDocument/2006/relationships/slideMaster"/><Relationship Id="rId4" Target="slides/slide1.xml" Type="http://schemas.openxmlformats.org/officeDocument/2006/relationships/slide"/><Relationship Id="rId5" Target="slides/slide2.xml" Type="http://schemas.openxmlformats.org/officeDocument/2006/relationships/slide"/><Relationship Id="rId6" Target="slides/slide3.xml" Type="http://schemas.openxmlformats.org/officeDocument/2006/relationships/slide"/><Relationship Id="rId7" Target="slides/slide4.xml" Type="http://schemas.openxmlformats.org/officeDocument/2006/relationships/slide"/><Relationship Id="rId8" Target="slides/slide5.xml" Type="http://schemas.openxmlformats.org/officeDocument/2006/relationships/slide"/><Relationship Id="rId9" Target="slides/slide6.xml" Type="http://schemas.openxmlformats.org/officeDocument/2006/relationships/slide"/></Relationships>
</file>

<file path=ppt/handoutMasters/_rels/handoutMaster1.xml.rels><?xml version="1.0" encoding="UTF-8" standalone="yes"?><Relationships xmlns="http://schemas.openxmlformats.org/package/2006/relationships"><Relationship Id="rId1" Target="../theme/theme5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664FB5-82AF-48A4-80F1-9AEEE0DF4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F0742E-D5E1-4FF3-A442-958EA2A786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D066F8-4FE9-4315-A56E-3EA256F5907F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F2F771-FAFF-4FF6-AE5C-96F43E8CB7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B88F3-0CB9-4921-9214-BFA9C4B80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73B9F-E786-4DE9-B054-AF2D3B6423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1152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D6F77-CFCE-A445-8E2C-54D16F9EECCC}" type="datetimeFigureOut">
              <a:rPr lang="en-US" smtClean="0"/>
              <a:t>6/27/25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942D00-D33B-6747-961F-9152114FB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03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942D00-D33B-6747-961F-9152114FB45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1630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BAB87-23FF-569F-A03F-6C1E6214A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6C5130-1CF3-39EA-7F00-8417CAD77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7734E-D13F-C51C-77EC-B691CB6D0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D027F-0A2C-28B4-870A-7EEA562AD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40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784E0-37EF-0515-22EE-47577AF17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99234B-115D-5C03-5653-83362A020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CAA53-C748-8342-AABF-5AD89A694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71842-250C-CCFB-1855-766A8BADCE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655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FF67D-514F-8B8C-1EE2-C41B28086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15A994-83C1-A8D2-7489-BE488A379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C06718-6E8A-4794-5EF0-0D931B6D0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87629-5794-5BB2-BD7E-C0BC8F5796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156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E2C2D-9793-B09A-391D-D2864734A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AFD82-5177-6608-510C-902D1796F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74FA6-6BD4-AD49-6210-6F5BD19F4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B6571-D738-A6F2-433C-6F7494D9D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356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E31D5-E598-E0CC-F7F0-18D9B36B9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2E27B-1202-4CE8-05C8-5A87C4B8E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0357E-66A1-B123-A8A3-70E781B3D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16FC4-E883-1D41-496C-79F81CDD1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3664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345DD-FE6D-DFF0-A912-A1CA3EA8B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77E1FD-2B00-7B6B-88C3-8BB79C38C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C35A70-97EF-52A1-58E8-3A7809AC6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262D5-FEB1-5D48-5A49-32260EA04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213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408E3-B973-4978-651D-215F39BDA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972B3C-E7AA-0B75-4F98-ADF7FE186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09B71C-4CEF-7C96-C068-B9BBA8335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68005-FC25-25A6-22EC-E3E2E8856E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718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EBFD4-F18D-8DEA-DE95-62A0FD08B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72D66-02B4-8B1F-86D7-8DC27AD3F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FBB7D5-B0C5-C5DF-8D83-4E0641B7F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36AB7-FFC4-274A-3E2C-ED48E1408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384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6E2BC-1D09-3C71-1C78-2B4385D41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E1E9BF-618B-2D8E-6D52-64039EEEE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972EAE-CA12-C3BA-76B4-056FEF951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89F98-7E50-71ED-CED1-F831D7E024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69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5E992-CCEA-1F5F-2297-49B9112DB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00F7A7-9B65-3F22-9846-BA35C965C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0FAE61-2674-208B-8018-3BD95B0C2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FDFAD-A063-B1F4-701D-B434B7529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401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3BBA7-310E-7660-8349-8A0CCA048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024B4-65DA-C668-6131-25D5CD97FB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2ADF84-ED3E-5D62-E2D8-A32B99751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66725-7EC1-D0BD-9FF4-A97CC02A5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809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75613"/>
      </p:ext>
    </p:extLst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Cover 1">
    <p:bg>
      <p:bgPr>
        <a:solidFill>
          <a:srgbClr val="1C3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401044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gradFill>
          <a:gsLst>
            <a:gs pos="12000">
              <a:srgbClr val="1C3D74"/>
            </a:gs>
            <a:gs pos="100000">
              <a:srgbClr val="2DB8C5"/>
            </a:gs>
          </a:gsLst>
          <a:lin ang="19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280325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gradFill flip="none" rotWithShape="1">
          <a:gsLst>
            <a:gs pos="74000">
              <a:srgbClr val="10746A"/>
            </a:gs>
            <a:gs pos="18000">
              <a:srgbClr val="0096E3">
                <a:lumMod val="90000"/>
                <a:lumOff val="10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3193694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gradFill flip="none" rotWithShape="1">
          <a:gsLst>
            <a:gs pos="0">
              <a:srgbClr val="73B82B">
                <a:lumMod val="88000"/>
                <a:lumOff val="12000"/>
              </a:srgbClr>
            </a:gs>
            <a:gs pos="97312">
              <a:srgbClr val="10746A"/>
            </a:gs>
            <a:gs pos="59000">
              <a:srgbClr val="10746A">
                <a:lumMod val="94000"/>
                <a:lumOff val="6000"/>
              </a:srgbClr>
            </a:gs>
          </a:gsLst>
          <a:lin ang="1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660772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gradFill>
          <a:gsLst>
            <a:gs pos="0">
              <a:srgbClr val="73B82B">
                <a:lumMod val="88000"/>
                <a:lumOff val="12000"/>
              </a:srgbClr>
            </a:gs>
            <a:gs pos="69000">
              <a:srgbClr val="2DB8C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41877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bg>
      <p:bgPr>
        <a:gradFill flip="none" rotWithShape="1">
          <a:gsLst>
            <a:gs pos="85484">
              <a:srgbClr val="8D3786"/>
            </a:gs>
            <a:gs pos="19000">
              <a:srgbClr val="EC008C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055588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bg>
      <p:bgPr>
        <a:gradFill flip="none" rotWithShape="1">
          <a:gsLst>
            <a:gs pos="3226">
              <a:srgbClr val="8D3786"/>
            </a:gs>
            <a:gs pos="35000">
              <a:srgbClr val="8D3786"/>
            </a:gs>
            <a:gs pos="100000">
              <a:srgbClr val="F18500"/>
            </a:gs>
          </a:gsLst>
          <a:lin ang="19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3086862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267128" y="262396"/>
            <a:ext cx="8591565" cy="7650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9F98BB-2095-434E-97D1-3636B7E756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7128" y="1027415"/>
            <a:ext cx="8591565" cy="3236610"/>
          </a:xfrm>
          <a:prstGeom prst="rect">
            <a:avLst/>
          </a:prstGeom>
        </p:spPr>
        <p:txBody>
          <a:bodyPr/>
          <a:lstStyle>
            <a:lvl1pPr marL="276225" indent="-276225">
              <a:buFont typeface="Arial" panose="020B0604020202020204" pitchFamily="34" charset="0"/>
              <a:buChar char="•"/>
              <a:tabLst/>
              <a:defRPr/>
            </a:lvl1pPr>
            <a:lvl2pPr marL="623888" indent="-266700">
              <a:buFont typeface="Arial" panose="020B0604020202020204" pitchFamily="34" charset="0"/>
              <a:buChar char="-"/>
              <a:tabLst/>
              <a:defRPr sz="800">
                <a:solidFill>
                  <a:srgbClr val="1C3D74"/>
                </a:solidFill>
                <a:latin typeface="+mj-lt"/>
              </a:defRPr>
            </a:lvl2pPr>
            <a:lvl3pPr marL="979488" marR="0" indent="-2682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sz="1200"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 marL="979488" marR="0" lvl="2" indent="-2682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-"/>
              <a:tabLst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 lvl="2">
              <a:buFont typeface="Arial" panose="020B0604020202020204" pitchFamily="34" charset="0"/>
              <a:buChar char="-"/>
              <a:defRPr/>
            </a:pPr>
            <a:endParaRPr lang="en-US" sz="1400" dirty="0">
              <a:solidFill>
                <a:srgbClr val="1C3D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Char char="-"/>
              <a:defRPr/>
            </a:pPr>
            <a:endParaRPr lang="en-US" sz="1400" dirty="0">
              <a:solidFill>
                <a:srgbClr val="1C3D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4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267128" y="262396"/>
            <a:ext cx="8591565" cy="7650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9F98BB-2095-434E-97D1-3636B7E756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7128" y="1027415"/>
            <a:ext cx="8591565" cy="3236610"/>
          </a:xfrm>
          <a:prstGeom prst="rect">
            <a:avLst/>
          </a:prstGeom>
        </p:spPr>
        <p:txBody>
          <a:bodyPr/>
          <a:lstStyle>
            <a:lvl1pPr marL="276225" indent="-276225">
              <a:buFont typeface="Arial" panose="020B0604020202020204" pitchFamily="34" charset="0"/>
              <a:buChar char="•"/>
              <a:tabLst/>
              <a:defRPr sz="16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3888" indent="-266700">
              <a:buFont typeface="Arial" panose="020B0604020202020204" pitchFamily="34" charset="0"/>
              <a:buChar char="-"/>
              <a:tabLst/>
              <a:defRPr sz="800">
                <a:solidFill>
                  <a:srgbClr val="1C3D74"/>
                </a:solidFill>
                <a:latin typeface="+mj-lt"/>
              </a:defRPr>
            </a:lvl2pPr>
            <a:lvl3pPr marL="979488" marR="0" indent="-2682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sz="1200"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 marL="979488" marR="0" lvl="2" indent="-2682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-"/>
              <a:tabLst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 lvl="2">
              <a:buFont typeface="Arial" panose="020B0604020202020204" pitchFamily="34" charset="0"/>
              <a:buChar char="-"/>
              <a:defRPr/>
            </a:pPr>
            <a:endParaRPr lang="en-US" sz="1400" dirty="0">
              <a:solidFill>
                <a:srgbClr val="1C3D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Char char="-"/>
              <a:defRPr/>
            </a:pPr>
            <a:endParaRPr lang="en-US" sz="1400" dirty="0">
              <a:solidFill>
                <a:srgbClr val="1C3D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886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267128" y="262397"/>
            <a:ext cx="8591565" cy="7547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9F98BB-2095-434E-97D1-3636B7E756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7128" y="1017143"/>
            <a:ext cx="4286320" cy="3246882"/>
          </a:xfrm>
          <a:prstGeom prst="rect">
            <a:avLst/>
          </a:prstGeom>
        </p:spPr>
        <p:txBody>
          <a:bodyPr/>
          <a:lstStyle>
            <a:lvl1pPr marL="276225" indent="-276225">
              <a:buFont typeface="Arial" panose="020B0604020202020204" pitchFamily="34" charset="0"/>
              <a:buChar char="•"/>
              <a:tabLst/>
              <a:defRPr sz="1600">
                <a:solidFill>
                  <a:srgbClr val="1C3D74"/>
                </a:solidFill>
                <a:latin typeface="+mj-lt"/>
              </a:defRPr>
            </a:lvl1pPr>
            <a:lvl2pPr marL="623888" indent="-266700">
              <a:buFont typeface="Arial" panose="020B0604020202020204" pitchFamily="34" charset="0"/>
              <a:buChar char="-"/>
              <a:tabLst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C7A6F9-784D-428C-B9C4-650A70FFC0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0" y="1017143"/>
            <a:ext cx="4286321" cy="3246882"/>
          </a:xfrm>
          <a:prstGeom prst="rect">
            <a:avLst/>
          </a:prstGeom>
        </p:spPr>
        <p:txBody>
          <a:bodyPr/>
          <a:lstStyle>
            <a:lvl1pPr marL="276225" indent="-276225">
              <a:buFont typeface="Arial" panose="020B0604020202020204" pitchFamily="34" charset="0"/>
              <a:buChar char="•"/>
              <a:tabLst/>
              <a:defRPr sz="1600">
                <a:solidFill>
                  <a:srgbClr val="1C3D74"/>
                </a:solidFill>
                <a:latin typeface="+mj-lt"/>
              </a:defRPr>
            </a:lvl1pPr>
            <a:lvl2pPr marL="623888" indent="-266700">
              <a:buFont typeface="Arial" panose="020B0604020202020204" pitchFamily="34" charset="0"/>
              <a:buChar char="-"/>
              <a:tabLst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</p:txBody>
      </p:sp>
    </p:spTree>
    <p:extLst>
      <p:ext uri="{BB962C8B-B14F-4D97-AF65-F5344CB8AC3E}">
        <p14:creationId xmlns:p14="http://schemas.microsoft.com/office/powerpoint/2010/main" val="3102203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0DD12-960D-C8D2-9380-5E21F726C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62A19-5A90-692F-AC2D-66D5A54F0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C9BA9-DF01-10F1-5BFE-079F89771F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FBFBEDAF-8A78-D546-8AA4-40D13BEC831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D6847-986F-92BA-9107-41DB0ECDF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1C33A-2DEB-F38B-436C-ABE7161F7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5F44B5CA-D569-D644-AB56-F28EC133D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820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8BFA5-9C67-D3B4-C5CB-13A1B69FB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500"/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45760-810A-B1C8-016B-4F0CAF752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57132-2ADE-3A98-A75C-1D59659B30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FBFBEDAF-8A78-D546-8AA4-40D13BEC831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F2391-3A07-6ED2-80DF-990CC1441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3E33B-BF83-029C-16EB-7D02A01E8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5F44B5CA-D569-D644-AB56-F28EC133D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494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BD707-80AD-5375-2618-4DACA1A890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500"/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46469-D0B2-C90E-2365-0023B0AA0C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7127" y="1039656"/>
            <a:ext cx="4253437" cy="3772373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9BC93-99CB-FC9A-9BEB-DE7FDD91D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3438" y="1039657"/>
            <a:ext cx="4235254" cy="3772372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1672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468E5-16EE-C4F7-1D16-F2AC251A0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27" y="274638"/>
            <a:ext cx="8591566" cy="765019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8519D-02E4-735C-8E09-C5A7B1F5E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7126" y="1039658"/>
            <a:ext cx="4231849" cy="294004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E46BB-26DF-BB08-3415-612E7FB63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7126" y="1333662"/>
            <a:ext cx="4231849" cy="35352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89E1FA-3A4B-BC66-34D8-E273B72F1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49" y="1039657"/>
            <a:ext cx="4229543" cy="29400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39FCF0-2D5A-83C0-7AFC-B80F2DED6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333662"/>
            <a:ext cx="4229542" cy="35352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17435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F1895-FCED-5D76-3827-BFB49A9D8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7CC3-0F85-7E71-854A-6CC2F9974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6FA18-2FDF-E693-4FC3-9A29E390B1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FBFBEDAF-8A78-D546-8AA4-40D13BEC831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DB2FF-548D-58DC-3639-9B05D3CCD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B4F68-A187-757E-D48F-99537133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5F44B5CA-D569-D644-AB56-F28EC133D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107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5D4B-805D-5F99-16FB-B90AFE54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E39F7B-4509-5CA9-DD44-68A456C122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FBFBEDAF-8A78-D546-8AA4-40D13BEC831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48501D-72B6-F89C-3F44-A73ACB7FD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935672-ECC1-3F60-3555-195A103C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5F44B5CA-D569-D644-AB56-F28EC133D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2000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E80844-7F5A-3BA1-3E5E-C2DF1006DF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FBFBEDAF-8A78-D546-8AA4-40D13BEC831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0BF066-7100-4D48-EFA3-AA251C72E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BED0C-ED70-3527-8571-1D8437A93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5F44B5CA-D569-D644-AB56-F28EC133D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063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DDC85-E540-E120-368C-C37F5AC8F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7B8B3-422D-1C9C-EA46-1E98E0A70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31178C-2887-FF21-7868-3A73528ED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C1B98-ADDF-44F4-06F5-1F5B9159DB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FBFBEDAF-8A78-D546-8AA4-40D13BEC831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A9458-A80C-4CA2-8EE5-2FB55E3B3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A1D7C-03DA-27E3-F8F9-E0CD550B0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5F44B5CA-D569-D644-AB56-F28EC133D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2532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96B0E-FF3A-CD0B-092D-5C9CD091D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D63D90-ADBC-7830-4EFB-B4E5D6464B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58542-D1B9-639C-697F-594FC631F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81DDF-8B45-F250-4463-709DC30B12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FBFBEDAF-8A78-D546-8AA4-40D13BEC831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B283E-CF9D-B123-038A-24042EBE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D0E9F-14DD-37E6-B554-4C635334B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5F44B5CA-D569-D644-AB56-F28EC133D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5380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8F5F4-2D07-5EF1-0853-7D97448B9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1BA458-4973-87F3-3CAF-060F70FEC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E6AF-E170-DD98-A729-CFAAB8BEF3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FBFBEDAF-8A78-D546-8AA4-40D13BEC831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7F1CB-67F1-FD4B-8238-C8A5DD714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5D0E6-D8DE-E03E-674F-6E0A9F225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5F44B5CA-D569-D644-AB56-F28EC133D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1574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ECBC19-F1A3-96BC-49FC-7D415F8FD9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30F65-B7EB-6AEF-5E4C-41E59EAA0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D2E01-E19C-6A29-DE50-8A50E0924E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FBFBEDAF-8A78-D546-8AA4-40D13BEC831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C885A-F5A4-DBBD-FC72-341BFCC6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B4AC0-31F6-3638-CF4E-9253AB17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5F44B5CA-D569-D644-AB56-F28EC133D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6101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rt Cover 1">
    <p:bg>
      <p:bgPr>
        <a:solidFill>
          <a:srgbClr val="1C3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3788460937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theme/theme1.xml" Type="http://schemas.openxmlformats.org/officeDocument/2006/relationships/theme"/></Relationships>
</file>

<file path=ppt/slideMasters/_rels/slideMaster2.xml.rels><?xml version="1.0" encoding="UTF-8" standalone="yes"?><Relationships xmlns="http://schemas.openxmlformats.org/package/2006/relationships"><Relationship Id="rId1" Target="../slideLayouts/slideLayout8.xml" Type="http://schemas.openxmlformats.org/officeDocument/2006/relationships/slideLayout"/><Relationship Id="rId2" Target="../slideLayouts/slideLayout9.xml" Type="http://schemas.openxmlformats.org/officeDocument/2006/relationships/slideLayout"/><Relationship Id="rId3" Target="../slideLayouts/slideLayout10.xml" Type="http://schemas.openxmlformats.org/officeDocument/2006/relationships/slideLayout"/><Relationship Id="rId4" Target="../theme/theme2.xml" Type="http://schemas.openxmlformats.org/officeDocument/2006/relationships/theme"/></Relationships>
</file>

<file path=ppt/slideMasters/_rels/slideMaster3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Relationship Id="rId10" Target="../slideLayouts/slideLayout20.xml" Type="http://schemas.openxmlformats.org/officeDocument/2006/relationships/slideLayout"/><Relationship Id="rId11" Target="../slideLayouts/slideLayout21.xml" Type="http://schemas.openxmlformats.org/officeDocument/2006/relationships/slideLayout"/><Relationship Id="rId12" Target="../slideLayouts/slideLayout22.xml" Type="http://schemas.openxmlformats.org/officeDocument/2006/relationships/slideLayout"/><Relationship Id="rId13" Target="../theme/theme3.xml" Type="http://schemas.openxmlformats.org/officeDocument/2006/relationships/theme"/><Relationship Id="rId2" Target="../slideLayouts/slideLayout12.xml" Type="http://schemas.openxmlformats.org/officeDocument/2006/relationships/slideLayout"/><Relationship Id="rId3" Target="../slideLayouts/slideLayout13.xml" Type="http://schemas.openxmlformats.org/officeDocument/2006/relationships/slideLayout"/><Relationship Id="rId4" Target="../slideLayouts/slideLayout14.xml" Type="http://schemas.openxmlformats.org/officeDocument/2006/relationships/slideLayout"/><Relationship Id="rId5" Target="../slideLayouts/slideLayout15.xml" Type="http://schemas.openxmlformats.org/officeDocument/2006/relationships/slideLayout"/><Relationship Id="rId6" Target="../slideLayouts/slideLayout16.xml" Type="http://schemas.openxmlformats.org/officeDocument/2006/relationships/slideLayout"/><Relationship Id="rId7" Target="../slideLayouts/slideLayout17.xml" Type="http://schemas.openxmlformats.org/officeDocument/2006/relationships/slideLayout"/><Relationship Id="rId8" Target="../slideLayouts/slideLayout18.xml" Type="http://schemas.openxmlformats.org/officeDocument/2006/relationships/slideLayout"/><Relationship Id="rId9" Target="../slideLayouts/slideLayout1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7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50" r:id="rId2"/>
    <p:sldLayoutId id="2147483765" r:id="rId3"/>
    <p:sldLayoutId id="2147483766" r:id="rId4"/>
    <p:sldLayoutId id="2147483767" r:id="rId5"/>
    <p:sldLayoutId id="2147483768" r:id="rId6"/>
    <p:sldLayoutId id="2147483769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58" userDrawn="1">
          <p15:clr>
            <a:srgbClr val="F26B43"/>
          </p15:clr>
        </p15:guide>
        <p15:guide id="3" pos="176" userDrawn="1">
          <p15:clr>
            <a:srgbClr val="F26B43"/>
          </p15:clr>
        </p15:guide>
        <p15:guide id="4" orient="horz" pos="2981" userDrawn="1">
          <p15:clr>
            <a:srgbClr val="F26B43"/>
          </p15:clr>
        </p15:guide>
        <p15:guide id="5" pos="5585" userDrawn="1">
          <p15:clr>
            <a:srgbClr val="F26B43"/>
          </p15:clr>
        </p15:guide>
        <p15:guide id="6" orient="horz" pos="1620" userDrawn="1">
          <p15:clr>
            <a:srgbClr val="F26B43"/>
          </p15:clr>
        </p15:guide>
        <p15:guide id="7" orient="horz" pos="554" userDrawn="1">
          <p15:clr>
            <a:srgbClr val="F26B43"/>
          </p15:clr>
        </p15:guide>
        <p15:guide id="8" orient="horz" pos="690" userDrawn="1">
          <p15:clr>
            <a:srgbClr val="F26B43"/>
          </p15:clr>
        </p15:guide>
        <p15:guide id="9" orient="horz" pos="826" userDrawn="1">
          <p15:clr>
            <a:srgbClr val="F26B43"/>
          </p15:clr>
        </p15:guide>
        <p15:guide id="10" pos="2812" userDrawn="1">
          <p15:clr>
            <a:srgbClr val="F26B43"/>
          </p15:clr>
        </p15:guide>
        <p15:guide id="11" pos="2948" userDrawn="1">
          <p15:clr>
            <a:srgbClr val="F26B43"/>
          </p15:clr>
        </p15:guide>
        <p15:guide id="12" pos="1474" userDrawn="1">
          <p15:clr>
            <a:srgbClr val="F26B43"/>
          </p15:clr>
        </p15:guide>
        <p15:guide id="13" pos="4263" userDrawn="1">
          <p15:clr>
            <a:srgbClr val="F26B43"/>
          </p15:clr>
        </p15:guide>
        <p15:guide id="14" orient="horz" pos="2822" userDrawn="1">
          <p15:clr>
            <a:srgbClr val="F26B43"/>
          </p15:clr>
        </p15:guide>
        <p15:guide id="15" orient="horz" pos="275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EFACAD1-D0A6-9749-A5C6-07C38D8E6F7D}"/>
              </a:ext>
            </a:extLst>
          </p:cNvPr>
          <p:cNvSpPr txBox="1"/>
          <p:nvPr userDrawn="1"/>
        </p:nvSpPr>
        <p:spPr>
          <a:xfrm>
            <a:off x="7926850" y="4846638"/>
            <a:ext cx="93933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A98891B2-5225-5C40-A770-7C3A43B5E5B1}" type="slidenum">
              <a:rPr lang="en-US" sz="9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95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6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86">
          <p15:clr>
            <a:srgbClr val="F26B43"/>
          </p15:clr>
        </p15:guide>
        <p15:guide id="2" pos="18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41A464-3F20-4ECD-3964-0F98D456D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27" y="274638"/>
            <a:ext cx="8591566" cy="7650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FB7F1-4F05-4F02-283C-CF7413C92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7126" y="1039656"/>
            <a:ext cx="8591566" cy="3829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7956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1" r:id="rId3"/>
    <p:sldLayoutId id="2147483892" r:id="rId4"/>
    <p:sldLayoutId id="2147483890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00" b="1" kern="1200">
          <a:solidFill>
            <a:srgbClr val="1C3D74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rgbClr val="1C3D7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rgbClr val="1C3D7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rgbClr val="1C3D7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rgbClr val="1C3D7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rgbClr val="1C3D7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em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10" Target="../media/image7.png" Type="http://schemas.openxmlformats.org/officeDocument/2006/relationships/image"/><Relationship Id="rId11" Target="../media/image8.png" Type="http://schemas.openxmlformats.org/officeDocument/2006/relationships/image"/><Relationship Id="rId12" Target="../media/image9.png" Type="http://schemas.openxmlformats.org/officeDocument/2006/relationships/image"/><Relationship Id="rId13" Target="../media/image10.png" Type="http://schemas.openxmlformats.org/officeDocument/2006/relationships/image"/><Relationship Id="rId2" Target="../notesSlides/notesSlide7.xml" Type="http://schemas.openxmlformats.org/officeDocument/2006/relationships/notesSlide"/><Relationship Id="rId3" Target="https://github.com/Slamtec/rplidar_sdk" TargetMode="External" Type="http://schemas.openxmlformats.org/officeDocument/2006/relationships/hyperlink"/><Relationship Id="rId4" Target="https://github.com/DanielKalicki/RPLidar_Arduino/tree/main" TargetMode="External" Type="http://schemas.openxmlformats.org/officeDocument/2006/relationships/hyperlink"/><Relationship Id="rId5" Target="https://github.com/farooqueesamiya/Odometry-and-Position-Estimation-for-Mobile-Robot" TargetMode="External" Type="http://schemas.openxmlformats.org/officeDocument/2006/relationships/hyperlink"/><Relationship Id="rId6" Target="https://youtu.be/dTGITLnYAY0?si=K3ijiWW-yeb7LXuf" TargetMode="External" Type="http://schemas.openxmlformats.org/officeDocument/2006/relationships/hyperlink"/><Relationship Id="rId7" Target="https://github.com/simondlevy/BreezySLAM" TargetMode="External" Type="http://schemas.openxmlformats.org/officeDocument/2006/relationships/hyperlink"/><Relationship Id="rId8" Target="https://github.com/simondlevy/PyRoboViz" TargetMode="External" Type="http://schemas.openxmlformats.org/officeDocument/2006/relationships/hyperlink"/><Relationship Id="rId9" Target="https://github.com/AtsushiSakai/PythonRobotics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2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4294967295" type="title"/>
          </p:nvPr>
        </p:nvSpPr>
        <p:spPr>
          <a:xfrm>
            <a:off x="636587" y="495532"/>
            <a:ext cx="7870825" cy="11715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anchor="t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>
              <a:avLst/>
            </a:prstTxWarp>
            <a:noAutofit/>
          </a:bodyPr>
          <a:lstStyle>
            <a:lvl1pPr indent="0" marL="0">
              <a:buNone/>
              <a:defRPr b="1" sz="40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pPr algn="ctr">
              <a:spcBef>
                <a:spcPts val="750"/>
              </a:spcBef>
              <a:defRPr/>
            </a:pPr>
            <a:r>
              <a:rPr b="0" dirty="0" lang="en-US" sz="2000">
                <a:solidFill>
                  <a:srgbClr val="FFFF00"/>
                </a:solidFill>
                <a:latin charset="0" panose="020B0004020202020204" pitchFamily="34" typeface="Aptos"/>
                <a:ea charset="0" panose="020B0503030403020204" pitchFamily="34" typeface="Source Sans Pro SemiBold"/>
                <a:cs charset="0" panose="020F0502020204030204" pitchFamily="34" typeface="Calibri"/>
              </a:rPr>
              <a:t>二年级短期学期设计与建造项目2025年夏季</a:t>
            </a:r>
            <a:br>
              <a:rPr b="0" dirty="0" lang="en-US" sz="2000">
                <a:solidFill>
                  <a:srgbClr val="FFFF00"/>
                </a:solidFill>
                <a:latin charset="0" panose="020B0004020202020204" pitchFamily="34" typeface="Aptos"/>
                <a:ea charset="0" panose="020B0503030403020204" pitchFamily="34" typeface="Source Sans Pro SemiBold"/>
                <a:cs charset="0" panose="020F0502020204030204" pitchFamily="34" typeface="Calibri"/>
              </a:rPr>
            </a:br>
            <a:br>
              <a:rPr b="0" dirty="0" lang="en-US" sz="2000">
                <a:solidFill>
                  <a:srgbClr val="FFFF00"/>
                </a:solidFill>
                <a:latin charset="0" panose="020B0004020202020204" pitchFamily="34" typeface="Aptos"/>
                <a:ea charset="0" panose="020B0503030403020204" pitchFamily="34" typeface="Source Sans Pro SemiBold"/>
                <a:cs charset="0" panose="020F0502020204030204" pitchFamily="34" typeface="Calibri"/>
              </a:rPr>
            </a:br>
            <a:endParaRPr b="0" baseline="0" cap="none" dirty="0" i="0" kern="1200" kumimoji="0" lang="en-US" noProof="0" normalizeH="0" spc="0" strike="noStrike" sz="2000" u="none">
              <a:ln>
                <a:noFill/>
              </a:ln>
              <a:solidFill>
                <a:srgbClr val="FFFF00"/>
              </a:solidFill>
              <a:effectLst/>
              <a:uLnTx/>
              <a:uFillTx/>
              <a:latin charset="0" panose="020B0004020202020204" pitchFamily="34" typeface="Aptos"/>
              <a:ea typeface="+mn-ea"/>
              <a:cs charset="0" panose="020F0502020204030204" pitchFamily="34"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2BC1B5-0045-FE5E-48ED-3CF7FB02DBD3}"/>
              </a:ext>
            </a:extLst>
          </p:cNvPr>
          <p:cNvSpPr txBox="1"/>
          <p:nvPr/>
        </p:nvSpPr>
        <p:spPr>
          <a:xfrm>
            <a:off x="3032595" y="3513335"/>
            <a:ext cx="3078800" cy="338554"/>
          </a:xfrm>
          <a:prstGeom prst="rect">
            <a:avLst/>
          </a:prstGeom>
          <a:noFill/>
        </p:spPr>
        <p:txBody>
          <a:bodyPr wrap="square">
            <a:normAutofit fontScale="75377" lnSpcReduction="10000"/>
          </a:bodyPr>
          <a:lstStyle/>
          <a:p>
            <a:pPr algn="ctr"/>
            <a:r>
              <a:rPr dirty="0" lang="en-US" sz="16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rPr>
              <a:t>Jonathan Loo, Qihui Ye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6610A56-0912-9B2A-00C1-68752DD48807}"/>
              </a:ext>
            </a:extLst>
          </p:cNvPr>
          <p:cNvSpPr txBox="1">
            <a:spLocks/>
          </p:cNvSpPr>
          <p:nvPr/>
        </p:nvSpPr>
        <p:spPr>
          <a:xfrm>
            <a:off x="636586" y="2047524"/>
            <a:ext cx="7870825" cy="11715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anchor="t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>
              <a:avLst/>
            </a:prstTxWarp>
            <a:noAutofit/>
          </a:bodyPr>
          <a:lstStyle>
            <a:lvl1pPr algn="l" defTabSz="685800" eaLnBrk="1" hangingPunct="1" indent="0" latinLnBrk="0" marL="0" rtl="0">
              <a:lnSpc>
                <a:spcPct val="90000"/>
              </a:lnSpc>
              <a:spcBef>
                <a:spcPct val="0"/>
              </a:spcBef>
              <a:buNone/>
              <a:defRPr b="1" kern="1200" sz="4000">
                <a:solidFill>
                  <a:schemeClr val="bg1"/>
                </a:solidFill>
                <a:latin charset="0" panose="020B0604020202020204" pitchFamily="34" typeface="Arial"/>
                <a:ea typeface="+mj-ea"/>
                <a:cs charset="0" panose="020B0604020202020204" pitchFamily="34" typeface="Arial"/>
              </a:defRPr>
            </a:lvl1pPr>
          </a:lstStyle>
          <a:p>
            <a:pPr algn="ctr">
              <a:spcBef>
                <a:spcPts val="750"/>
              </a:spcBef>
              <a:defRPr/>
            </a:pPr>
            <a:r>
              <a:rPr b="0" dirty="0" lang="en-US" sz="2600">
                <a:ea charset="0" panose="020B0503030403020204" pitchFamily="34" typeface="Source Sans Pro SemiBold"/>
              </a:rPr>
              <a:t>基于二维激光雷达的自主移动机器人迷宫测绘与导航</a:t>
            </a:r>
            <a:endParaRPr b="0" dirty="0" lang="en-US" sz="2600"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CF3643-D952-D628-43F0-ADAD2907E815}"/>
              </a:ext>
            </a:extLst>
          </p:cNvPr>
          <p:cNvSpPr txBox="1"/>
          <p:nvPr/>
        </p:nvSpPr>
        <p:spPr>
          <a:xfrm>
            <a:off x="3699805" y="4176903"/>
            <a:ext cx="1744379" cy="338554"/>
          </a:xfrm>
          <a:prstGeom prst="rect">
            <a:avLst/>
          </a:prstGeom>
          <a:noFill/>
        </p:spPr>
        <p:txBody>
          <a:bodyPr wrap="square">
            <a:normAutofit fontScale="80178" lnSpcReduction="10000"/>
          </a:bodyPr>
          <a:lstStyle/>
          <a:p>
            <a:pPr algn="ctr"/>
            <a:r>
              <a:rPr dirty="0" lang="en-US" sz="1600">
                <a:solidFill>
                  <a:schemeClr val="bg1"/>
                </a:solidFill>
                <a:latin charset="0" panose="020B0604020202020204" pitchFamily="34" typeface="Arial"/>
                <a:cs charset="0" panose="020B0604020202020204" pitchFamily="34" typeface="Arial"/>
              </a:rPr>
              <a:t>2025年6月</a:t>
            </a:r>
          </a:p>
        </p:txBody>
      </p:sp>
    </p:spTree>
    <p:extLst>
      <p:ext uri="{BB962C8B-B14F-4D97-AF65-F5344CB8AC3E}">
        <p14:creationId xmlns:p14="http://schemas.microsoft.com/office/powerpoint/2010/main" val="270729309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7777D07D-891B-F03A-9779-120F2F9F5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6B49B4D-44A5-E692-90D2-4DCF87A25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27" y="274638"/>
            <a:ext cx="8591566" cy="765019"/>
          </a:xfrm>
        </p:spPr>
        <p:txBody>
          <a:bodyPr>
            <a:noAutofit/>
          </a:bodyPr>
          <a:lstStyle/>
          <a:p>
            <a:r>
              <a:rPr dirty="0" lang="en-GB"/>
              <a:t>设计与建造2025：学习成果</a:t>
            </a:r>
            <a:br>
              <a:rPr dirty="0" lang="en-US"/>
            </a:br>
            <a:endParaRPr dirty="0"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7E5B800-F90A-09B7-7813-37AE7765E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126" y="1039656"/>
            <a:ext cx="8591566" cy="3829205"/>
          </a:xfrm>
        </p:spPr>
        <p:txBody>
          <a:bodyPr/>
          <a:lstStyle/>
          <a:p>
            <a:r>
              <a:rPr dirty="0" lang="en-GB"/>
              <a:t>展示对多学科项目中工程设计生命周期和相互依赖关系的理解</a:t>
            </a:r>
          </a:p>
          <a:p>
            <a:r>
              <a:rPr dirty="0" lang="en-GB"/>
              <a:t>在现实世界的工程场景中应用核心工程原理和结构化问题解决方法</a:t>
            </a:r>
          </a:p>
          <a:p>
            <a:r>
              <a:rPr dirty="0" lang="en-GB"/>
              <a:t>设计并进行实验或模拟，以验证系统性能并迭代解决方案</a:t>
            </a:r>
          </a:p>
          <a:p>
            <a:r>
              <a:rPr dirty="0" lang="en-GB"/>
              <a:t>在开发工程解决方案时表现出主动性、创造性和创新性</a:t>
            </a:r>
          </a:p>
          <a:p>
            <a:r>
              <a:rPr dirty="0" lang="en-GB"/>
              <a:t>将理论知识转化为功能设计和工作原型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13916B-48F3-9105-20E3-C8799A4C8BCB}"/>
              </a:ext>
            </a:extLst>
          </p:cNvPr>
          <p:cNvSpPr txBox="1"/>
          <p:nvPr/>
        </p:nvSpPr>
        <p:spPr>
          <a:xfrm>
            <a:off x="1228159" y="4264025"/>
            <a:ext cx="6687682" cy="307777"/>
          </a:xfrm>
          <a:prstGeom prst="rect">
            <a:avLst/>
          </a:prstGeom>
          <a:noFill/>
          <a:ln w="25400">
            <a:solidFill>
              <a:srgbClr val="EC008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b="1" dirty="0" lang="en-GB" sz="1400">
                <a:solidFill>
                  <a:srgbClr val="1C3D74"/>
                </a:solidFill>
                <a:latin charset="0" panose="020B0604020202020204" pitchFamily="34" typeface="Arial"/>
                <a:ea charset="0" panose="020B0503030403020204" pitchFamily="34" typeface="Source Sans Pro SemiBold"/>
                <a:cs charset="0" panose="020B0604020202020204" pitchFamily="34" typeface="Arial"/>
              </a:rPr>
              <a:t>D&amp;B项目有助于你的部分工程环境标志。</a:t>
            </a:r>
          </a:p>
        </p:txBody>
      </p:sp>
    </p:spTree>
    <p:extLst>
      <p:ext uri="{BB962C8B-B14F-4D97-AF65-F5344CB8AC3E}">
        <p14:creationId xmlns:p14="http://schemas.microsoft.com/office/powerpoint/2010/main" val="2053967200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7CD44C63-BFE5-C950-A592-FD63EB8D0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9FCF5F-8D6D-D40C-3D43-E9CB4AA75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lang="en-GB" sz="2800"/>
              <a:t>设计与建造2025：一般信息</a:t>
            </a:r>
            <a:br>
              <a:rPr dirty="0" lang="en-US" sz="2800">
                <a:solidFill>
                  <a:srgbClr val="EC008C"/>
                </a:solidFill>
              </a:rPr>
            </a:br>
            <a:endParaRPr dirty="0" lang="en-US" sz="2800">
              <a:solidFill>
                <a:srgbClr val="EC008C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C267FA-6EFF-4626-EE4A-D953B1D0B185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indent="0" marL="0">
              <a:buNone/>
            </a:pPr>
            <a:r>
              <a:rPr b="1" dirty="0" lang="en-US" sz="1400"/>
              <a:t>团队组成:</a:t>
            </a:r>
          </a:p>
          <a:p>
            <a:r>
              <a:rPr dirty="0" lang="en-US" sz="1200"/>
              <a:t>每组由大约。10-12名学生，结合电信、EIE、物联网和IST的人才。</a:t>
            </a:r>
          </a:p>
          <a:p>
            <a:r>
              <a:rPr dirty="0" lang="en-US" sz="1200"/>
              <a:t>每个小组作为一个小型工程公司，具有以下团队特长：</a:t>
            </a:r>
          </a:p>
          <a:p>
            <a:pPr lvl="1"/>
            <a:r>
              <a:rPr dirty="0" lang="en-US" sz="1100">
                <a:solidFill>
                  <a:srgbClr val="EC008C"/>
                </a:solidFill>
              </a:rPr>
              <a:t>硬件组（电信+EIE）</a:t>
            </a:r>
          </a:p>
          <a:p>
            <a:pPr lvl="1"/>
            <a:r>
              <a:rPr dirty="0" lang="en-US" sz="1100">
                <a:solidFill>
                  <a:srgbClr val="EC008C"/>
                </a:solidFill>
              </a:rPr>
              <a:t>软件团队（物联网+ IST）</a:t>
            </a:r>
          </a:p>
          <a:p>
            <a:pPr lvl="1"/>
            <a:endParaRPr dirty="0" lang="en-US" sz="1200"/>
          </a:p>
          <a:p>
            <a:pPr indent="0" marL="0">
              <a:buNone/>
            </a:pPr>
            <a:r>
              <a:rPr b="1" dirty="0" lang="en-US" sz="1400"/>
              <a:t>项目资源:</a:t>
            </a:r>
          </a:p>
          <a:p>
            <a:r>
              <a:rPr dirty="0" lang="en-US" sz="1200"/>
              <a:t>访问硬件组件、编码库和参考资料。(见细节)</a:t>
            </a:r>
          </a:p>
          <a:p>
            <a:pPr indent="0" marL="0">
              <a:buNone/>
            </a:pPr>
            <a:endParaRPr b="1" dirty="0" lang="en-US" sz="1400"/>
          </a:p>
          <a:p>
            <a:endParaRPr dirty="0" lang="en-US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9D2BE-D9BF-25B0-9FBB-E20A48AB386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indent="0" marL="0">
              <a:buNone/>
            </a:pPr>
            <a:r>
              <a:rPr b="1" dirty="0" lang="en-US" sz="1400"/>
              <a:t>项目评估:</a:t>
            </a:r>
          </a:p>
          <a:p>
            <a:r>
              <a:rPr dirty="0" lang="en-US" sz="1200"/>
              <a:t>项目评估以项目完成水平和质量为依据。(见细节)</a:t>
            </a:r>
          </a:p>
          <a:p>
            <a:endParaRPr dirty="0" lang="en-US" sz="1200"/>
          </a:p>
          <a:p>
            <a:pPr indent="0" marL="0">
              <a:buNone/>
            </a:pPr>
            <a:r>
              <a:rPr b="1" dirty="0" lang="en-US" sz="1400"/>
              <a:t>竞争对手:</a:t>
            </a:r>
          </a:p>
          <a:p>
            <a:r>
              <a:rPr dirty="0" lang="en-US" sz="1200"/>
              <a:t>所有项目组均有资格参加公平竞争。(见细节)</a:t>
            </a:r>
          </a:p>
          <a:p>
            <a:r>
              <a:rPr dirty="0" lang="en-US" sz="1200"/>
              <a:t>前三名将获得奖励/表彰。</a:t>
            </a:r>
          </a:p>
          <a:p>
            <a:endParaRPr dirty="0" lang="en-US" sz="1400"/>
          </a:p>
        </p:txBody>
      </p:sp>
    </p:spTree>
    <p:extLst>
      <p:ext uri="{BB962C8B-B14F-4D97-AF65-F5344CB8AC3E}">
        <p14:creationId xmlns:p14="http://schemas.microsoft.com/office/powerpoint/2010/main" val="1508303311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5EDC16F-3594-F289-E180-288F72ED4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EDB2596-9C3B-F2A0-C433-AB05E023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GB"/>
              <a:t>设计与建造2025：项目概述</a:t>
            </a:r>
            <a:br>
              <a:rPr dirty="0" lang="en-GB">
                <a:solidFill>
                  <a:srgbClr val="EC008C"/>
                </a:solidFill>
              </a:rPr>
            </a:br>
            <a:endParaRPr dirty="0" lang="en-GB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3BD68A-ABCD-7D30-6078-DF966913254E}"/>
              </a:ext>
            </a:extLst>
          </p:cNvPr>
          <p:cNvSpPr>
            <a:spLocks noGrp="1"/>
          </p:cNvSpPr>
          <p:nvPr>
            <p:ph idx="1" sz="half"/>
          </p:nvPr>
        </p:nvSpPr>
        <p:spPr>
          <a:xfrm>
            <a:off x="267128" y="1039656"/>
            <a:ext cx="3914454" cy="3772373"/>
          </a:xfrm>
        </p:spPr>
        <p:txBody>
          <a:bodyPr/>
          <a:lstStyle/>
          <a:p>
            <a:r>
              <a:rPr b="1" dirty="0" lang="en-US"/>
              <a:t>主题:</a:t>
            </a:r>
          </a:p>
          <a:p>
            <a:pPr lvl="1"/>
            <a:r>
              <a:rPr dirty="0" lang="en-GB"/>
              <a:t>基于二维激光雷达的自主移动机器人迷宫测绘与导航</a:t>
            </a:r>
          </a:p>
          <a:p>
            <a:endParaRPr b="1" dirty="0" lang="en-US"/>
          </a:p>
          <a:p>
            <a:r>
              <a:rPr b="1" dirty="0" lang="en-US"/>
              <a:t>主要目标:</a:t>
            </a:r>
          </a:p>
          <a:p>
            <a:pPr lvl="1"/>
            <a:r>
              <a:rPr dirty="0" lang="en-US"/>
              <a:t>设计和建造配备2D激光雷达系统的自主移动机器人，能够在迷宫内执行实时环境测绘和导航。</a:t>
            </a:r>
          </a:p>
          <a:p>
            <a:pPr lvl="1"/>
            <a:r>
              <a:rPr dirty="0" lang="en-US"/>
              <a:t>能够自主探索未知的迷宫环境，定位出口点，然后在没有人为干预的情况下返回到原始起始位置。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2150B5-D609-43A5-AC8E-95513F601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06095"/>
            <a:ext cx="4103540" cy="29471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54E793-D38C-4ADF-EF7C-06A6B9C21901}"/>
              </a:ext>
            </a:extLst>
          </p:cNvPr>
          <p:cNvSpPr txBox="1"/>
          <p:nvPr/>
        </p:nvSpPr>
        <p:spPr>
          <a:xfrm>
            <a:off x="4666543" y="4196524"/>
            <a:ext cx="39144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 lang="en-GB" sz="1000">
                <a:solidFill>
                  <a:schemeClr val="tx1">
                    <a:lumMod val="50000"/>
                  </a:schemeClr>
                </a:solidFill>
              </a:rPr>
              <a:t>图1所示。有起始位置和退出点的迷宫示例</a:t>
            </a:r>
          </a:p>
        </p:txBody>
      </p:sp>
    </p:spTree>
    <p:extLst>
      <p:ext uri="{BB962C8B-B14F-4D97-AF65-F5344CB8AC3E}">
        <p14:creationId xmlns:p14="http://schemas.microsoft.com/office/powerpoint/2010/main" val="3529414731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691CF3DC-B080-2971-C0FB-AAF20306D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252420-6094-A6A9-AF03-2C92C80E5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GB"/>
              <a:t>设计与建造2025：项目概述</a:t>
            </a:r>
            <a:br>
              <a:rPr dirty="0" lang="en-GB">
                <a:solidFill>
                  <a:srgbClr val="EC008C"/>
                </a:solidFill>
              </a:rPr>
            </a:br>
            <a:endParaRPr dirty="0" lang="en-GB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1E01A5-4711-F658-F007-862714D0EF3F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 dirty="0" lang="en-US"/>
              <a:t>硬件部分:</a:t>
            </a:r>
          </a:p>
          <a:p>
            <a:pPr lvl="1"/>
            <a:r>
              <a:rPr dirty="0" lang="en-GB"/>
              <a:t>STM32F446RE MCU + Arduino框架</a:t>
            </a:r>
          </a:p>
          <a:p>
            <a:pPr lvl="1"/>
            <a:r>
              <a:rPr dirty="0" lang="en-GB"/>
              <a:t>AT8236电机驱动</a:t>
            </a:r>
          </a:p>
          <a:p>
            <a:pPr lvl="1"/>
            <a:r>
              <a:rPr dirty="0" lang="en-GB"/>
              <a:t>520齿轮编码器直流电机</a:t>
            </a:r>
          </a:p>
          <a:p>
            <a:pPr lvl="1"/>
            <a:r>
              <a:rPr dirty="0" lang="en-GB"/>
              <a:t>SLAMTEC RPLIDAR C1二维激光雷达</a:t>
            </a:r>
          </a:p>
          <a:p>
            <a:pPr lvl="1"/>
            <a:r>
              <a:rPr dirty="0" lang="en-GB"/>
              <a:t>MPU6500 IMU</a:t>
            </a:r>
          </a:p>
          <a:p>
            <a:pPr lvl="1"/>
            <a:r>
              <a:rPr dirty="0" lang="en-GB"/>
              <a:t>HC-04蓝牙模块（SPP/BLE）</a:t>
            </a:r>
          </a:p>
          <a:p>
            <a:pPr lvl="1"/>
            <a:endParaRPr dirty="0" lang="en-GB"/>
          </a:p>
          <a:p>
            <a:r>
              <a:rPr dirty="0" lang="en-GB"/>
              <a:t>该项目将通过硬件组件、固件和主机软件计算的集成来实现。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9EFBE2-8D79-9B51-4175-BD20216C7707}"/>
              </a:ext>
            </a:extLst>
          </p:cNvPr>
          <p:cNvSpPr txBox="1"/>
          <p:nvPr/>
        </p:nvSpPr>
        <p:spPr>
          <a:xfrm>
            <a:off x="5702258" y="4264025"/>
            <a:ext cx="22038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lang="en-GB" sz="1000">
                <a:solidFill>
                  <a:schemeClr val="tx1">
                    <a:lumMod val="50000"/>
                  </a:schemeClr>
                </a:solidFill>
              </a:rPr>
              <a:t>图2。硬件组件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7298A2-AF04-56E7-A8D1-BC0136748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81219"/>
            <a:ext cx="4464395" cy="301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105950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E3E980C3-050C-5397-08E4-D31E86B62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itle 181">
            <a:extLst>
              <a:ext uri="{FF2B5EF4-FFF2-40B4-BE49-F238E27FC236}">
                <a16:creationId xmlns:a16="http://schemas.microsoft.com/office/drawing/2014/main" id="{96A0DD2F-C3DA-396F-0394-6F4A0C09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GB"/>
              <a:t>设计与建造2025：项目概述</a:t>
            </a:r>
            <a:br>
              <a:rPr dirty="0" lang="en-GB">
                <a:solidFill>
                  <a:srgbClr val="EC008C"/>
                </a:solidFill>
              </a:rPr>
            </a:br>
            <a:endParaRPr dirty="0"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3450DD-18D1-4C1D-D3F1-AFC6C4A8E94E}"/>
              </a:ext>
            </a:extLst>
          </p:cNvPr>
          <p:cNvSpPr/>
          <p:nvPr/>
        </p:nvSpPr>
        <p:spPr>
          <a:xfrm>
            <a:off x="1411605" y="1907529"/>
            <a:ext cx="3004923" cy="235585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CB037C-4550-9E14-C100-B9D1B418FB3A}"/>
              </a:ext>
            </a:extLst>
          </p:cNvPr>
          <p:cNvSpPr/>
          <p:nvPr/>
        </p:nvSpPr>
        <p:spPr>
          <a:xfrm>
            <a:off x="6641671" y="1907529"/>
            <a:ext cx="1770809" cy="235585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GB"/>
          </a:p>
        </p:txBody>
      </p:sp>
      <mc:AlternateContent xmlns:a14="http://schemas.microsoft.com/office/drawing/2010/main" xmlns:mc="http://schemas.openxmlformats.org/markup-compatibility/2006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300A87D-AABA-9663-6AB4-85DD76199392}"/>
                  </a:ext>
                </a:extLst>
              </p:cNvPr>
              <p:cNvSpPr txBox="1"/>
              <p:nvPr/>
            </p:nvSpPr>
            <p:spPr>
              <a:xfrm>
                <a:off x="4858123" y="3591801"/>
                <a:ext cx="1373292" cy="276999"/>
              </a:xfrm>
              <a:prstGeom prst="rect">
                <a:avLst/>
              </a:prstGeom>
              <a:noFill/>
            </p:spPr>
            <p:txBody>
              <a:bodyPr rtlCol="0" wrap="square">
                <a:spAutoFit/>
              </a:bodyPr>
              <a:lstStyle/>
              <a:p>
                <a:pPr algn="ctr"/>
                <a:r>
                  <a:rPr dirty="0" lang="en-GB" sz="600">
                    <a:solidFill>
                      <a:schemeClr val="accent4"/>
                    </a:solidFill>
                    <a:latin charset="0" panose="020B0604020202020204" pitchFamily="34" typeface="Arial"/>
                    <a:cs charset="0" panose="020B0604020202020204" pitchFamily="34" typeface="Arial"/>
                  </a:rPr>
                  <a:t>Current Position (</a:t>
                </a:r>
                <a:r>
                  <a:rPr dirty="0" err="1" lang="en-GB" sz="600">
                    <a:solidFill>
                      <a:schemeClr val="accent4"/>
                    </a:solidFill>
                    <a:latin charset="0" panose="020B0604020202020204" pitchFamily="34" typeface="Arial"/>
                    <a:cs charset="0" panose="020B0604020202020204" pitchFamily="34" typeface="Arial"/>
                  </a:rPr>
                  <a:t>x,y</a:t>
                </a:r>
                <a:r>
                  <a:rPr dirty="0" lang="en-GB" sz="600">
                    <a:solidFill>
                      <a:schemeClr val="accent4"/>
                    </a:solidFill>
                    <a:latin charset="0" panose="020B0604020202020204" pitchFamily="34" typeface="Arial"/>
                    <a:cs charset="0" panose="020B0604020202020204" pitchFamily="34" typeface="Arial"/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600">
                        <a:solidFill>
                          <a:schemeClr val="accent4"/>
                        </a:solidFill>
                        <a:latin charset="0" panose="02040503050406030204" pitchFamily="18" typeface="Cambria Math"/>
                      </a:rPr>
                      <m:t>θ</m:t>
                    </m:r>
                    <m:r>
                      <a:rPr b="0" i="0" lang="en-GB" smtClean="0" sz="600">
                        <a:solidFill>
                          <a:schemeClr val="accent4"/>
                        </a:solidFill>
                        <a:latin charset="0" panose="02040503050406030204" pitchFamily="18" typeface="Cambria Math"/>
                      </a:rPr>
                      <m:t>)</m:t>
                    </m:r>
                  </m:oMath>
                </a14:m>
                <a:r>
                  <a:rPr dirty="0" lang="en-GB" sz="600">
                    <a:solidFill>
                      <a:schemeClr val="accent4"/>
                    </a:solidFill>
                    <a:latin charset="0" panose="020B0604020202020204" pitchFamily="34" typeface="Arial"/>
                    <a:cs charset="0" panose="020B0604020202020204" pitchFamily="34" typeface="Arial"/>
                  </a:rPr>
                  <a:t> and 2D Lidar (distance and angle)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300A87D-AABA-9663-6AB4-85DD76199392}"/>
                  </a:ext>
                </a:extLst>
              </p:cNvPr>
              <p:cNvSpPr txBox="1">
                <a:spLocks noAdjustHandles="1" noChangeArrowheads="1" noChangeAspect="1" noChangeShapeType="1" noEditPoints="1" noMove="1" noResize="1" noRot="1" noTextEdit="1"/>
              </p:cNvSpPr>
              <p:nvPr/>
            </p:nvSpPr>
            <p:spPr>
              <a:xfrm>
                <a:off x="4858123" y="3591801"/>
                <a:ext cx="1373292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a14="http://schemas.microsoft.com/office/drawing/2010/main" xmlns:mc="http://schemas.openxmlformats.org/markup-compatibility/2006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2CCC53-4A0C-AFEA-FC72-C2F8DED2AC4D}"/>
                  </a:ext>
                </a:extLst>
              </p:cNvPr>
              <p:cNvSpPr txBox="1"/>
              <p:nvPr/>
            </p:nvSpPr>
            <p:spPr>
              <a:xfrm>
                <a:off x="5074752" y="2181584"/>
                <a:ext cx="942887" cy="184666"/>
              </a:xfrm>
              <a:prstGeom prst="rect">
                <a:avLst/>
              </a:prstGeom>
              <a:noFill/>
            </p:spPr>
            <p:txBody>
              <a:bodyPr rtlCol="0" wrap="none">
                <a:spAutoFit/>
              </a:bodyPr>
              <a:lstStyle/>
              <a:p>
                <a:r>
                  <a:rPr dirty="0" lang="en-GB" sz="600">
                    <a:solidFill>
                      <a:schemeClr val="accent4"/>
                    </a:solidFill>
                    <a:latin charset="0" panose="020B0604020202020204" pitchFamily="34" typeface="Arial"/>
                    <a:cs charset="0" panose="020B0604020202020204" pitchFamily="34" typeface="Arial"/>
                  </a:rPr>
                  <a:t>Target Position (</a:t>
                </a:r>
                <a:r>
                  <a:rPr dirty="0" err="1" lang="en-GB" sz="600">
                    <a:solidFill>
                      <a:schemeClr val="accent4"/>
                    </a:solidFill>
                    <a:latin charset="0" panose="020B0604020202020204" pitchFamily="34" typeface="Arial"/>
                    <a:cs charset="0" panose="020B0604020202020204" pitchFamily="34" typeface="Arial"/>
                  </a:rPr>
                  <a:t>x,y</a:t>
                </a:r>
                <a:r>
                  <a:rPr dirty="0" lang="en-GB" sz="600">
                    <a:solidFill>
                      <a:schemeClr val="accent4"/>
                    </a:solidFill>
                    <a:latin charset="0" panose="020B0604020202020204" pitchFamily="34" typeface="Arial"/>
                    <a:cs charset="0" panose="020B0604020202020204" pitchFamily="34" typeface="Arial"/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600">
                        <a:solidFill>
                          <a:schemeClr val="accent4"/>
                        </a:solidFill>
                        <a:latin charset="0" panose="02040503050406030204" pitchFamily="18" typeface="Cambria Math"/>
                      </a:rPr>
                      <m:t>θ</m:t>
                    </m:r>
                    <m:r>
                      <a:rPr b="0" i="0" lang="en-GB" smtClean="0" sz="600">
                        <a:solidFill>
                          <a:schemeClr val="accent4"/>
                        </a:solidFill>
                        <a:latin charset="0" panose="02040503050406030204" pitchFamily="18" typeface="Cambria Math"/>
                      </a:rPr>
                      <m:t>)</m:t>
                    </m:r>
                  </m:oMath>
                </a14:m>
                <a:endParaRPr dirty="0" lang="en-GB" sz="600">
                  <a:solidFill>
                    <a:schemeClr val="accent4"/>
                  </a:solidFill>
                  <a:latin charset="0" panose="020B0604020202020204" pitchFamily="34" typeface="Arial"/>
                  <a:cs charset="0" panose="020B0604020202020204" pitchFamily="34" typeface="Arial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2CCC53-4A0C-AFEA-FC72-C2F8DED2AC4D}"/>
                  </a:ext>
                </a:extLst>
              </p:cNvPr>
              <p:cNvSpPr txBox="1">
                <a:spLocks noAdjustHandles="1" noChangeArrowheads="1" noChangeAspect="1" noChangeShapeType="1" noEditPoints="1" noMove="1" noResize="1" noRot="1" noTextEdit="1"/>
              </p:cNvSpPr>
              <p:nvPr/>
            </p:nvSpPr>
            <p:spPr>
              <a:xfrm>
                <a:off x="5074752" y="2181584"/>
                <a:ext cx="942887" cy="1846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3FFD53B-6F61-C30A-A7DD-1A0CD2F4AECF}"/>
              </a:ext>
            </a:extLst>
          </p:cNvPr>
          <p:cNvCxnSpPr>
            <a:cxnSpLocks/>
            <a:stCxn id="6" idx="3"/>
            <a:endCxn id="26" idx="1"/>
          </p:cNvCxnSpPr>
          <p:nvPr/>
        </p:nvCxnSpPr>
        <p:spPr>
          <a:xfrm>
            <a:off x="4156949" y="2359155"/>
            <a:ext cx="2987519" cy="5339"/>
          </a:xfrm>
          <a:prstGeom prst="straightConnector1">
            <a:avLst/>
          </a:prstGeom>
          <a:ln w="9525">
            <a:solidFill>
              <a:schemeClr val="tx1">
                <a:lumMod val="50000"/>
              </a:schemeClr>
            </a:solidFill>
            <a:headEnd len="med" type="triangle" w="med"/>
            <a:tailEnd len="med" type="non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92E95E8-0309-4606-5005-61866CBC4B75}"/>
              </a:ext>
            </a:extLst>
          </p:cNvPr>
          <p:cNvSpPr txBox="1"/>
          <p:nvPr/>
        </p:nvSpPr>
        <p:spPr>
          <a:xfrm>
            <a:off x="7144468" y="2838924"/>
            <a:ext cx="996790" cy="523220"/>
          </a:xfrm>
          <a:prstGeom prst="rect">
            <a:avLst/>
          </a:prstGeom>
          <a:noFill/>
          <a:ln w="9525">
            <a:solidFill>
              <a:schemeClr val="tx1">
                <a:lumMod val="50000"/>
              </a:schemeClr>
            </a:solidFill>
          </a:ln>
        </p:spPr>
        <p:txBody>
          <a:bodyPr rtlCol="0" wrap="square">
            <a:spAutoFit/>
          </a:bodyPr>
          <a:lstStyle/>
          <a:p>
            <a:pPr algn="ctr"/>
            <a:r>
              <a:rPr dirty="0" lang="en-GB" sz="700">
                <a:solidFill>
                  <a:schemeClr val="tx1">
                    <a:lumMod val="50000"/>
                  </a:schemeClr>
                </a:solidFill>
              </a:rPr>
              <a:t>从出口点回到起点的导航路径规划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C015D7-E2AF-F9AF-C492-BAA709944A39}"/>
              </a:ext>
            </a:extLst>
          </p:cNvPr>
          <p:cNvSpPr txBox="1"/>
          <p:nvPr/>
        </p:nvSpPr>
        <p:spPr>
          <a:xfrm>
            <a:off x="7144468" y="2102884"/>
            <a:ext cx="996790" cy="523220"/>
          </a:xfrm>
          <a:prstGeom prst="rect">
            <a:avLst/>
          </a:prstGeom>
          <a:noFill/>
          <a:ln w="9525">
            <a:solidFill>
              <a:schemeClr val="tx1">
                <a:lumMod val="50000"/>
              </a:schemeClr>
            </a:solidFill>
          </a:ln>
        </p:spPr>
        <p:txBody>
          <a:bodyPr rtlCol="0" wrap="square">
            <a:spAutoFit/>
          </a:bodyPr>
          <a:lstStyle/>
          <a:p>
            <a:pPr algn="ctr"/>
            <a:r>
              <a:rPr dirty="0" lang="en-GB" sz="700">
                <a:solidFill>
                  <a:schemeClr val="tx1">
                    <a:lumMod val="50000"/>
                  </a:schemeClr>
                </a:solidFill>
              </a:rPr>
              <a:t>用于地图构建和定位Exit Point的自主导航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5791D6-29FB-F53E-D601-C3935BC6FEB5}"/>
              </a:ext>
            </a:extLst>
          </p:cNvPr>
          <p:cNvSpPr txBox="1"/>
          <p:nvPr/>
        </p:nvSpPr>
        <p:spPr>
          <a:xfrm>
            <a:off x="7144468" y="3717510"/>
            <a:ext cx="996790" cy="415498"/>
          </a:xfrm>
          <a:prstGeom prst="rect">
            <a:avLst/>
          </a:prstGeom>
          <a:noFill/>
          <a:ln w="9525">
            <a:solidFill>
              <a:schemeClr val="tx1">
                <a:lumMod val="50000"/>
              </a:schemeClr>
            </a:solidFill>
          </a:ln>
        </p:spPr>
        <p:txBody>
          <a:bodyPr rtlCol="0" wrap="square">
            <a:spAutoFit/>
          </a:bodyPr>
          <a:lstStyle/>
          <a:p>
            <a:pPr algn="ctr"/>
            <a:r>
              <a:rPr dirty="0" lang="en-GB" sz="700">
                <a:solidFill>
                  <a:schemeClr val="tx1">
                    <a:lumMod val="50000"/>
                  </a:schemeClr>
                </a:solidFill>
              </a:rPr>
              <a:t>SLAM地图构建和可视化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ADB5D9B-177D-674B-B786-630C7CD0D24F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>
            <a:off x="7642863" y="3362144"/>
            <a:ext cx="0" cy="355366"/>
          </a:xfrm>
          <a:prstGeom prst="straightConnector1">
            <a:avLst/>
          </a:prstGeom>
          <a:ln w="9525">
            <a:solidFill>
              <a:schemeClr val="tx1">
                <a:lumMod val="50000"/>
              </a:schemeClr>
            </a:solidFill>
            <a:headEnd len="med" type="triangle" w="med"/>
            <a:tailEnd len="med" type="non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B56FA48F-26F7-672B-6565-B8B74824D7BA}"/>
              </a:ext>
            </a:extLst>
          </p:cNvPr>
          <p:cNvCxnSpPr>
            <a:cxnSpLocks/>
            <a:stCxn id="25" idx="1"/>
          </p:cNvCxnSpPr>
          <p:nvPr/>
        </p:nvCxnSpPr>
        <p:spPr>
          <a:xfrm rot="10800000">
            <a:off x="6903720" y="2364494"/>
            <a:ext cx="240748" cy="736040"/>
          </a:xfrm>
          <a:prstGeom prst="bentConnector2">
            <a:avLst/>
          </a:prstGeom>
          <a:ln w="9525">
            <a:solidFill>
              <a:schemeClr val="tx1">
                <a:lumMod val="50000"/>
              </a:schemeClr>
            </a:solidFill>
            <a:headEnd len="med" type="none" w="med"/>
            <a:tailEnd len="med" type="non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a14="http://schemas.microsoft.com/office/drawing/2010/main" xmlns:mc="http://schemas.openxmlformats.org/markup-compatibility/2006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82E0CC-887B-9512-EDDA-94C7AEB39C38}"/>
                  </a:ext>
                </a:extLst>
              </p:cNvPr>
              <p:cNvSpPr txBox="1"/>
              <p:nvPr/>
            </p:nvSpPr>
            <p:spPr>
              <a:xfrm>
                <a:off x="3063700" y="2151406"/>
                <a:ext cx="1093249" cy="415498"/>
              </a:xfrm>
              <a:prstGeom prst="rect">
                <a:avLst/>
              </a:prstGeom>
              <a:noFill/>
              <a:ln w="9525">
                <a:solidFill>
                  <a:schemeClr val="tx1">
                    <a:lumMod val="50000"/>
                  </a:schemeClr>
                </a:solidFill>
              </a:ln>
            </p:spPr>
            <p:txBody>
              <a:bodyPr rtlCol="0" wrap="square">
                <a:spAutoFit/>
              </a:bodyPr>
              <a:lstStyle/>
              <a:p>
                <a:pPr algn="ctr"/>
                <a:r>
                  <a:rPr dirty="0" lang="en-GB" sz="700">
                    <a:solidFill>
                      <a:schemeClr val="tx1">
                        <a:lumMod val="50000"/>
                      </a:schemeClr>
                    </a:solidFill>
                  </a:rPr>
                  <a:t>Control motor with PID to navigate robot to a Target position </a:t>
                </a:r>
                <a:r>
                  <a:rPr dirty="0" lang="en-GB" sz="700">
                    <a:solidFill>
                      <a:schemeClr val="tx1">
                        <a:lumMod val="50000"/>
                      </a:schemeClr>
                    </a:solidFill>
                    <a:latin charset="0" panose="020B0604020202020204" pitchFamily="34" typeface="Arial"/>
                    <a:cs charset="0" panose="020B0604020202020204" pitchFamily="34" typeface="Arial"/>
                  </a:rPr>
                  <a:t>(</a:t>
                </a:r>
                <a:r>
                  <a:rPr dirty="0" err="1" lang="en-GB" sz="700">
                    <a:solidFill>
                      <a:schemeClr val="tx1">
                        <a:lumMod val="50000"/>
                      </a:schemeClr>
                    </a:solidFill>
                    <a:latin charset="0" panose="020B0604020202020204" pitchFamily="34" typeface="Arial"/>
                    <a:cs charset="0" panose="020B0604020202020204" pitchFamily="34" typeface="Arial"/>
                  </a:rPr>
                  <a:t>x,y</a:t>
                </a:r>
                <a:r>
                  <a:rPr dirty="0" lang="en-GB" sz="700">
                    <a:solidFill>
                      <a:schemeClr val="tx1">
                        <a:lumMod val="50000"/>
                      </a:schemeClr>
                    </a:solidFill>
                    <a:latin charset="0" panose="020B0604020202020204" pitchFamily="34" typeface="Arial"/>
                    <a:cs charset="0" panose="020B0604020202020204" pitchFamily="34" typeface="Arial"/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700">
                        <a:solidFill>
                          <a:schemeClr val="tx1">
                            <a:lumMod val="50000"/>
                          </a:schemeClr>
                        </a:solidFill>
                        <a:latin charset="0" panose="02040503050406030204" pitchFamily="18" typeface="Cambria Math"/>
                      </a:rPr>
                      <m:t>θ</m:t>
                    </m:r>
                    <m:r>
                      <a:rPr lang="en-GB" sz="700">
                        <a:solidFill>
                          <a:schemeClr val="tx1">
                            <a:lumMod val="50000"/>
                          </a:schemeClr>
                        </a:solidFill>
                        <a:latin charset="0" panose="02040503050406030204" pitchFamily="18" typeface="Cambria Math"/>
                      </a:rPr>
                      <m:t>)</m:t>
                    </m:r>
                  </m:oMath>
                </a14:m>
                <a:r>
                  <a:rPr dirty="0" lang="en-GB" sz="70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82E0CC-887B-9512-EDDA-94C7AEB39C38}"/>
                  </a:ext>
                </a:extLst>
              </p:cNvPr>
              <p:cNvSpPr txBox="1">
                <a:spLocks noAdjustHandles="1" noChangeArrowheads="1" noChangeAspect="1" noChangeShapeType="1" noEditPoints="1" noMove="1" noResize="1" noRot="1" noTextEdit="1"/>
              </p:cNvSpPr>
              <p:nvPr/>
            </p:nvSpPr>
            <p:spPr>
              <a:xfrm>
                <a:off x="3063700" y="2151406"/>
                <a:ext cx="1093249" cy="4154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solidFill>
                  <a:schemeClr val="tx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a14="http://schemas.microsoft.com/office/drawing/2010/main" xmlns:mc="http://schemas.openxmlformats.org/markup-compatibility/2006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CF471C4-37CB-B108-5286-62BEC2815542}"/>
                  </a:ext>
                </a:extLst>
              </p:cNvPr>
              <p:cNvSpPr txBox="1"/>
              <p:nvPr/>
            </p:nvSpPr>
            <p:spPr>
              <a:xfrm>
                <a:off x="3063698" y="2876284"/>
                <a:ext cx="1093249" cy="523220"/>
              </a:xfrm>
              <a:prstGeom prst="rect">
                <a:avLst/>
              </a:prstGeom>
              <a:noFill/>
              <a:ln w="9525">
                <a:solidFill>
                  <a:schemeClr val="tx1">
                    <a:lumMod val="50000"/>
                  </a:schemeClr>
                </a:solidFill>
              </a:ln>
            </p:spPr>
            <p:txBody>
              <a:bodyPr rtlCol="0" wrap="square">
                <a:spAutoFit/>
              </a:bodyPr>
              <a:lstStyle/>
              <a:p>
                <a:pPr algn="ctr"/>
                <a:r>
                  <a:rPr dirty="0" lang="en-GB" sz="700">
                    <a:solidFill>
                      <a:schemeClr val="tx1">
                        <a:lumMod val="50000"/>
                      </a:schemeClr>
                    </a:solidFill>
                  </a:rPr>
                  <a:t>Compute Odometry and Position estimate of the robot’s Current position </a:t>
                </a:r>
                <a:r>
                  <a:rPr dirty="0" lang="en-GB" sz="700">
                    <a:solidFill>
                      <a:schemeClr val="tx1">
                        <a:lumMod val="50000"/>
                      </a:schemeClr>
                    </a:solidFill>
                    <a:latin charset="0" panose="020B0604020202020204" pitchFamily="34" typeface="Arial"/>
                    <a:cs charset="0" panose="020B0604020202020204" pitchFamily="34" typeface="Arial"/>
                  </a:rPr>
                  <a:t>(</a:t>
                </a:r>
                <a:r>
                  <a:rPr dirty="0" err="1" lang="en-GB" sz="700">
                    <a:solidFill>
                      <a:schemeClr val="tx1">
                        <a:lumMod val="50000"/>
                      </a:schemeClr>
                    </a:solidFill>
                    <a:latin charset="0" panose="020B0604020202020204" pitchFamily="34" typeface="Arial"/>
                    <a:cs charset="0" panose="020B0604020202020204" pitchFamily="34" typeface="Arial"/>
                  </a:rPr>
                  <a:t>x,y</a:t>
                </a:r>
                <a:r>
                  <a:rPr dirty="0" lang="en-GB" sz="700">
                    <a:solidFill>
                      <a:schemeClr val="tx1">
                        <a:lumMod val="50000"/>
                      </a:schemeClr>
                    </a:solidFill>
                    <a:latin charset="0" panose="020B0604020202020204" pitchFamily="34" typeface="Arial"/>
                    <a:cs charset="0" panose="020B0604020202020204" pitchFamily="34" typeface="Arial"/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700">
                        <a:solidFill>
                          <a:schemeClr val="tx1">
                            <a:lumMod val="50000"/>
                          </a:schemeClr>
                        </a:solidFill>
                        <a:latin charset="0" panose="02040503050406030204" pitchFamily="18" typeface="Cambria Math"/>
                      </a:rPr>
                      <m:t>θ</m:t>
                    </m:r>
                    <m:r>
                      <a:rPr lang="en-GB" sz="700">
                        <a:solidFill>
                          <a:schemeClr val="tx1">
                            <a:lumMod val="50000"/>
                          </a:schemeClr>
                        </a:solidFill>
                        <a:latin charset="0" panose="02040503050406030204" pitchFamily="18" typeface="Cambria Math"/>
                      </a:rPr>
                      <m:t>)</m:t>
                    </m:r>
                  </m:oMath>
                </a14:m>
                <a:endParaRPr dirty="0" lang="en-GB" sz="70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CF471C4-37CB-B108-5286-62BEC2815542}"/>
                  </a:ext>
                </a:extLst>
              </p:cNvPr>
              <p:cNvSpPr txBox="1">
                <a:spLocks noAdjustHandles="1" noChangeArrowheads="1" noChangeAspect="1" noChangeShapeType="1" noEditPoints="1" noMove="1" noResize="1" noRot="1" noTextEdit="1"/>
              </p:cNvSpPr>
              <p:nvPr/>
            </p:nvSpPr>
            <p:spPr>
              <a:xfrm>
                <a:off x="3063698" y="2876284"/>
                <a:ext cx="109324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solidFill>
                  <a:schemeClr val="tx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B8AAD90-4E95-1B04-0CA3-2ADA57EB88BB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3610322" y="3399504"/>
            <a:ext cx="1" cy="525755"/>
          </a:xfrm>
          <a:prstGeom prst="straightConnector1">
            <a:avLst/>
          </a:prstGeom>
          <a:ln w="9525">
            <a:solidFill>
              <a:schemeClr val="tx1">
                <a:lumMod val="50000"/>
              </a:schemeClr>
            </a:solidFill>
            <a:headEnd len="med" type="non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E6295C65-BA8B-BD79-A61D-A8332636477C}"/>
              </a:ext>
            </a:extLst>
          </p:cNvPr>
          <p:cNvSpPr txBox="1"/>
          <p:nvPr/>
        </p:nvSpPr>
        <p:spPr>
          <a:xfrm>
            <a:off x="1623101" y="2993218"/>
            <a:ext cx="822035" cy="307777"/>
          </a:xfrm>
          <a:prstGeom prst="rect">
            <a:avLst/>
          </a:prstGeom>
          <a:noFill/>
          <a:ln w="9525">
            <a:noFill/>
          </a:ln>
        </p:spPr>
        <p:txBody>
          <a:bodyPr rtlCol="0" wrap="square">
            <a:spAutoFit/>
          </a:bodyPr>
          <a:lstStyle/>
          <a:p>
            <a:pPr algn="ctr"/>
            <a:r>
              <a:rPr dirty="0" lang="en-GB" sz="700">
                <a:solidFill>
                  <a:schemeClr val="tx1">
                    <a:lumMod val="50000"/>
                  </a:schemeClr>
                </a:solidFill>
              </a:rPr>
              <a:t>传感器数据采集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A2513D5-A752-5762-2FF3-ECBA4501D14A}"/>
              </a:ext>
            </a:extLst>
          </p:cNvPr>
          <p:cNvSpPr/>
          <p:nvPr/>
        </p:nvSpPr>
        <p:spPr>
          <a:xfrm>
            <a:off x="1616502" y="2884644"/>
            <a:ext cx="835233" cy="514860"/>
          </a:xfrm>
          <a:prstGeom prst="rect">
            <a:avLst/>
          </a:prstGeom>
          <a:noFill/>
          <a:ln w="9525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GB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33368B6-92D5-8FD4-9AE0-AAD6837954E1}"/>
              </a:ext>
            </a:extLst>
          </p:cNvPr>
          <p:cNvCxnSpPr>
            <a:cxnSpLocks/>
            <a:stCxn id="75" idx="3"/>
            <a:endCxn id="21" idx="1"/>
          </p:cNvCxnSpPr>
          <p:nvPr/>
        </p:nvCxnSpPr>
        <p:spPr>
          <a:xfrm flipV="1">
            <a:off x="2451735" y="3137894"/>
            <a:ext cx="611963" cy="4180"/>
          </a:xfrm>
          <a:prstGeom prst="straightConnector1">
            <a:avLst/>
          </a:prstGeom>
          <a:ln w="952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2067AE81-B68E-9810-6CC8-4975BEC898BE}"/>
              </a:ext>
            </a:extLst>
          </p:cNvPr>
          <p:cNvSpPr txBox="1"/>
          <p:nvPr/>
        </p:nvSpPr>
        <p:spPr>
          <a:xfrm>
            <a:off x="7614990" y="3467224"/>
            <a:ext cx="445956" cy="184666"/>
          </a:xfrm>
          <a:prstGeom prst="rect">
            <a:avLst/>
          </a:prstGeom>
          <a:noFill/>
        </p:spPr>
        <p:txBody>
          <a:bodyPr rtlCol="0" wrap="none">
            <a:normAutofit fontScale="86602" lnSpcReduction="10000"/>
          </a:bodyPr>
          <a:lstStyle/>
          <a:p>
            <a:r>
              <a:rPr dirty="0" lang="en-GB" sz="600">
                <a:solidFill>
                  <a:srgbClr val="73B82B"/>
                </a:solidFill>
              </a:rPr>
              <a:t>二维地图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F8AABFE-C423-D807-7707-D9A81718803B}"/>
              </a:ext>
            </a:extLst>
          </p:cNvPr>
          <p:cNvSpPr txBox="1"/>
          <p:nvPr/>
        </p:nvSpPr>
        <p:spPr>
          <a:xfrm>
            <a:off x="2376498" y="2891369"/>
            <a:ext cx="737702" cy="276999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ctr"/>
            <a:r>
              <a:rPr dirty="0" lang="en-GB" sz="600">
                <a:solidFill>
                  <a:srgbClr val="73B82B"/>
                </a:solidFill>
              </a:rPr>
              <a:t>马达编码器&amp;</a:t>
            </a:r>
          </a:p>
          <a:p>
            <a:pPr algn="ctr"/>
            <a:r>
              <a:rPr dirty="0" lang="en-GB" sz="600">
                <a:solidFill>
                  <a:srgbClr val="73B82B"/>
                </a:solidFill>
              </a:rPr>
              <a:t>IMU数据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1476975-F9BF-9C32-4B06-F4F20F5DDE64}"/>
              </a:ext>
            </a:extLst>
          </p:cNvPr>
          <p:cNvSpPr txBox="1"/>
          <p:nvPr/>
        </p:nvSpPr>
        <p:spPr>
          <a:xfrm>
            <a:off x="3549075" y="3480524"/>
            <a:ext cx="938077" cy="184666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pPr algn="ctr"/>
            <a:r>
              <a:rPr dirty="0" lang="en-GB" sz="600">
                <a:solidFill>
                  <a:srgbClr val="73B82B"/>
                </a:solidFill>
              </a:rPr>
              <a:t>当前位置（x,y, θ）</a:t>
            </a:r>
            <a:endParaRPr dirty="0" lang="en-GB" sz="600">
              <a:solidFill>
                <a:srgbClr val="73B82B"/>
              </a:solidFill>
            </a:endParaRPr>
          </a:p>
        </p:txBody>
      </p: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305D7575-3655-58B1-8D7E-9218C5961909}"/>
              </a:ext>
            </a:extLst>
          </p:cNvPr>
          <p:cNvCxnSpPr>
            <a:cxnSpLocks/>
            <a:stCxn id="75" idx="2"/>
            <a:endCxn id="27" idx="1"/>
          </p:cNvCxnSpPr>
          <p:nvPr/>
        </p:nvCxnSpPr>
        <p:spPr>
          <a:xfrm flipH="1" rot="16200000">
            <a:off x="4326416" y="1107206"/>
            <a:ext cx="525755" cy="5110349"/>
          </a:xfrm>
          <a:prstGeom prst="bentConnector2">
            <a:avLst/>
          </a:prstGeom>
          <a:ln w="952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93BA7CAE-314D-60E5-9E31-C98E717E123B}"/>
              </a:ext>
            </a:extLst>
          </p:cNvPr>
          <p:cNvSpPr txBox="1"/>
          <p:nvPr/>
        </p:nvSpPr>
        <p:spPr>
          <a:xfrm>
            <a:off x="1930330" y="3611836"/>
            <a:ext cx="979406" cy="276999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ctr"/>
            <a:r>
              <a:rPr dirty="0" lang="en-GB" sz="600">
                <a:solidFill>
                  <a:srgbClr val="73B82B"/>
                </a:solidFill>
              </a:rPr>
              <a:t>二维激光雷达</a:t>
            </a:r>
          </a:p>
          <a:p>
            <a:pPr algn="ctr"/>
            <a:r>
              <a:rPr dirty="0" lang="en-GB" sz="600">
                <a:solidFill>
                  <a:srgbClr val="73B82B"/>
                </a:solidFill>
              </a:rPr>
              <a:t>（距离和角度）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B386299-F969-8EB2-49E0-FBFE83790DA0}"/>
              </a:ext>
            </a:extLst>
          </p:cNvPr>
          <p:cNvSpPr txBox="1"/>
          <p:nvPr/>
        </p:nvSpPr>
        <p:spPr>
          <a:xfrm>
            <a:off x="3063697" y="1325040"/>
            <a:ext cx="1093249" cy="307777"/>
          </a:xfrm>
          <a:prstGeom prst="rect">
            <a:avLst/>
          </a:prstGeom>
          <a:noFill/>
          <a:ln w="9525">
            <a:solidFill>
              <a:schemeClr val="tx1">
                <a:lumMod val="50000"/>
              </a:schemeClr>
            </a:solidFill>
          </a:ln>
        </p:spPr>
        <p:txBody>
          <a:bodyPr rtlCol="0" wrap="square">
            <a:normAutofit fontScale="94868" lnSpcReduction="10000"/>
          </a:bodyPr>
          <a:lstStyle/>
          <a:p>
            <a:pPr algn="ctr"/>
            <a:r>
              <a:rPr dirty="0" lang="en-GB" sz="700">
                <a:solidFill>
                  <a:schemeClr val="tx1">
                    <a:lumMod val="50000"/>
                  </a:schemeClr>
                </a:solidFill>
              </a:rPr>
              <a:t>AT8236</a:t>
            </a:r>
          </a:p>
          <a:p>
            <a:pPr algn="ctr"/>
            <a:r>
              <a:rPr dirty="0" lang="en-GB" sz="700">
                <a:solidFill>
                  <a:schemeClr val="tx1">
                    <a:lumMod val="50000"/>
                  </a:schemeClr>
                </a:solidFill>
              </a:rPr>
              <a:t>汽车司机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3C4D4847-5B37-5B9F-DB3D-020BB31463AB}"/>
              </a:ext>
            </a:extLst>
          </p:cNvPr>
          <p:cNvCxnSpPr>
            <a:cxnSpLocks/>
            <a:stCxn id="109" idx="2"/>
            <a:endCxn id="6" idx="0"/>
          </p:cNvCxnSpPr>
          <p:nvPr/>
        </p:nvCxnSpPr>
        <p:spPr>
          <a:xfrm>
            <a:off x="3610322" y="1632817"/>
            <a:ext cx="3" cy="518589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headEnd len="med" type="triangle" w="med"/>
            <a:tailEnd len="med" type="non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B1D0EF51-2AC9-04EF-BF10-22431F5AB044}"/>
              </a:ext>
            </a:extLst>
          </p:cNvPr>
          <p:cNvSpPr txBox="1"/>
          <p:nvPr/>
        </p:nvSpPr>
        <p:spPr>
          <a:xfrm>
            <a:off x="3560415" y="1728082"/>
            <a:ext cx="359394" cy="184666"/>
          </a:xfrm>
          <a:prstGeom prst="rect">
            <a:avLst/>
          </a:prstGeom>
          <a:noFill/>
        </p:spPr>
        <p:txBody>
          <a:bodyPr rtlCol="0" wrap="none">
            <a:normAutofit fontScale="61237" lnSpcReduction="10000"/>
          </a:bodyPr>
          <a:lstStyle/>
          <a:p>
            <a:pPr algn="ctr"/>
            <a:r>
              <a:rPr dirty="0" lang="en-GB" sz="600">
                <a:solidFill>
                  <a:srgbClr val="73B82B"/>
                </a:solidFill>
              </a:rPr>
              <a:t>脉宽调制</a:t>
            </a:r>
          </a:p>
        </p:txBody>
      </p: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29F8AD65-3C12-CDCB-77BA-DB6277D92D01}"/>
              </a:ext>
            </a:extLst>
          </p:cNvPr>
          <p:cNvCxnSpPr>
            <a:cxnSpLocks/>
            <a:stCxn id="109" idx="1"/>
          </p:cNvCxnSpPr>
          <p:nvPr/>
        </p:nvCxnSpPr>
        <p:spPr>
          <a:xfrm flipV="1" rot="10800000">
            <a:off x="2308019" y="1478928"/>
            <a:ext cx="755678" cy="1407067"/>
          </a:xfrm>
          <a:prstGeom prst="bentConnector2">
            <a:avLst/>
          </a:prstGeom>
          <a:ln w="952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A59611DC-4BA3-C0C0-8D48-51441A97E073}"/>
              </a:ext>
            </a:extLst>
          </p:cNvPr>
          <p:cNvSpPr txBox="1"/>
          <p:nvPr/>
        </p:nvSpPr>
        <p:spPr>
          <a:xfrm>
            <a:off x="2259127" y="2251430"/>
            <a:ext cx="671979" cy="184666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pPr algn="ctr"/>
            <a:r>
              <a:rPr dirty="0" lang="en-GB" sz="600">
                <a:solidFill>
                  <a:srgbClr val="73B82B"/>
                </a:solidFill>
              </a:rPr>
              <a:t>电机编码器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4283CD1-52C5-CE92-CED7-994A7D2B1522}"/>
              </a:ext>
            </a:extLst>
          </p:cNvPr>
          <p:cNvSpPr txBox="1"/>
          <p:nvPr/>
        </p:nvSpPr>
        <p:spPr>
          <a:xfrm>
            <a:off x="510612" y="2989416"/>
            <a:ext cx="584264" cy="307777"/>
          </a:xfrm>
          <a:prstGeom prst="rect">
            <a:avLst/>
          </a:prstGeom>
          <a:noFill/>
          <a:ln w="9525">
            <a:solidFill>
              <a:schemeClr val="tx1">
                <a:lumMod val="50000"/>
              </a:schemeClr>
            </a:solidFill>
          </a:ln>
        </p:spPr>
        <p:txBody>
          <a:bodyPr rtlCol="0" wrap="square">
            <a:normAutofit fontScale="70710" lnSpcReduction="10000"/>
          </a:bodyPr>
          <a:lstStyle/>
          <a:p>
            <a:pPr algn="ctr"/>
            <a:r>
              <a:rPr dirty="0" lang="en-GB" sz="700">
                <a:solidFill>
                  <a:schemeClr val="tx1">
                    <a:lumMod val="50000"/>
                  </a:schemeClr>
                </a:solidFill>
              </a:rPr>
              <a:t>MPU6500</a:t>
            </a:r>
          </a:p>
          <a:p>
            <a:pPr algn="ctr"/>
            <a:r>
              <a:rPr dirty="0" lang="en-GB" sz="700">
                <a:solidFill>
                  <a:schemeClr val="tx1">
                    <a:lumMod val="50000"/>
                  </a:schemeClr>
                </a:solidFill>
              </a:rPr>
              <a:t>IMU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EC94B2B-3345-1B97-59C4-E3D4A6638E9D}"/>
              </a:ext>
            </a:extLst>
          </p:cNvPr>
          <p:cNvSpPr txBox="1"/>
          <p:nvPr/>
        </p:nvSpPr>
        <p:spPr>
          <a:xfrm>
            <a:off x="510612" y="2424737"/>
            <a:ext cx="584264" cy="307777"/>
          </a:xfrm>
          <a:prstGeom prst="rect">
            <a:avLst/>
          </a:prstGeom>
          <a:noFill/>
          <a:ln w="9525">
            <a:solidFill>
              <a:schemeClr val="tx1">
                <a:lumMod val="50000"/>
              </a:schemeClr>
            </a:solidFill>
          </a:ln>
        </p:spPr>
        <p:txBody>
          <a:bodyPr rtlCol="0" wrap="square">
            <a:normAutofit fontScale="70710" lnSpcReduction="10000"/>
          </a:bodyPr>
          <a:lstStyle/>
          <a:p>
            <a:pPr algn="ctr"/>
            <a:r>
              <a:rPr dirty="0" lang="en-GB" sz="700">
                <a:solidFill>
                  <a:schemeClr val="tx1">
                    <a:lumMod val="50000"/>
                  </a:schemeClr>
                </a:solidFill>
              </a:rPr>
              <a:t>RPLIDAR C1</a:t>
            </a:r>
            <a:endParaRPr dirty="0" lang="en-GB" sz="60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28" name="Elbow Connector 127">
            <a:extLst>
              <a:ext uri="{FF2B5EF4-FFF2-40B4-BE49-F238E27FC236}">
                <a16:creationId xmlns:a16="http://schemas.microsoft.com/office/drawing/2014/main" id="{140B92E3-F74E-2AA0-7FC8-6917E3DEA429}"/>
              </a:ext>
            </a:extLst>
          </p:cNvPr>
          <p:cNvCxnSpPr>
            <a:cxnSpLocks/>
            <a:stCxn id="124" idx="3"/>
          </p:cNvCxnSpPr>
          <p:nvPr/>
        </p:nvCxnSpPr>
        <p:spPr>
          <a:xfrm>
            <a:off x="1094876" y="2578626"/>
            <a:ext cx="707208" cy="304189"/>
          </a:xfrm>
          <a:prstGeom prst="bentConnector3">
            <a:avLst>
              <a:gd fmla="val 100103" name="adj1"/>
            </a:avLst>
          </a:prstGeom>
          <a:ln w="952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DC5A7509-9385-73FC-1A38-58444B80221D}"/>
              </a:ext>
            </a:extLst>
          </p:cNvPr>
          <p:cNvCxnSpPr>
            <a:cxnSpLocks/>
            <a:stCxn id="123" idx="3"/>
            <a:endCxn id="75" idx="1"/>
          </p:cNvCxnSpPr>
          <p:nvPr/>
        </p:nvCxnSpPr>
        <p:spPr>
          <a:xfrm flipV="1">
            <a:off x="1094876" y="3142074"/>
            <a:ext cx="521626" cy="1231"/>
          </a:xfrm>
          <a:prstGeom prst="straightConnector1">
            <a:avLst/>
          </a:prstGeom>
          <a:ln w="952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8E263C43-2EE7-198E-8412-4A800BEDE2C5}"/>
              </a:ext>
            </a:extLst>
          </p:cNvPr>
          <p:cNvSpPr txBox="1"/>
          <p:nvPr/>
        </p:nvSpPr>
        <p:spPr>
          <a:xfrm>
            <a:off x="1359666" y="2317840"/>
            <a:ext cx="910598" cy="276999"/>
          </a:xfrm>
          <a:prstGeom prst="rect">
            <a:avLst/>
          </a:prstGeom>
          <a:noFill/>
        </p:spPr>
        <p:txBody>
          <a:bodyPr rtlCol="0" wrap="square">
            <a:normAutofit fontScale="95971" lnSpcReduction="10000"/>
          </a:bodyPr>
          <a:lstStyle/>
          <a:p>
            <a:pPr algn="ctr"/>
            <a:r>
              <a:rPr dirty="0" lang="en-GB" sz="600">
                <a:solidFill>
                  <a:srgbClr val="73B82B"/>
                </a:solidFill>
              </a:rPr>
              <a:t>UART: 2D激光雷达</a:t>
            </a:r>
          </a:p>
          <a:p>
            <a:pPr algn="ctr"/>
            <a:r>
              <a:rPr dirty="0" lang="en-GB" sz="600">
                <a:solidFill>
                  <a:srgbClr val="73B82B"/>
                </a:solidFill>
              </a:rPr>
              <a:t>（距离和角度）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26C89D59-0496-FE17-E3ED-620132F1D2AF}"/>
              </a:ext>
            </a:extLst>
          </p:cNvPr>
          <p:cNvSpPr txBox="1"/>
          <p:nvPr/>
        </p:nvSpPr>
        <p:spPr>
          <a:xfrm>
            <a:off x="1004875" y="3138929"/>
            <a:ext cx="495649" cy="276999"/>
          </a:xfrm>
          <a:prstGeom prst="rect">
            <a:avLst/>
          </a:prstGeom>
          <a:noFill/>
        </p:spPr>
        <p:txBody>
          <a:bodyPr rtlCol="0" wrap="none">
            <a:normAutofit fontScale="73029" lnSpcReduction="10000"/>
          </a:bodyPr>
          <a:lstStyle/>
          <a:p>
            <a:pPr algn="ctr"/>
            <a:r>
              <a:rPr dirty="0" lang="en-GB" sz="600">
                <a:solidFill>
                  <a:srgbClr val="73B82B"/>
                </a:solidFill>
              </a:rPr>
              <a:t>I2C / SPI:</a:t>
            </a:r>
          </a:p>
          <a:p>
            <a:pPr algn="ctr"/>
            <a:r>
              <a:rPr dirty="0" lang="en-GB" sz="600">
                <a:solidFill>
                  <a:srgbClr val="73B82B"/>
                </a:solidFill>
              </a:rPr>
              <a:t>IMU数据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C1BD873-683B-91AB-B1BC-AC8B0ADDA501}"/>
              </a:ext>
            </a:extLst>
          </p:cNvPr>
          <p:cNvSpPr txBox="1"/>
          <p:nvPr/>
        </p:nvSpPr>
        <p:spPr>
          <a:xfrm>
            <a:off x="2729663" y="4597239"/>
            <a:ext cx="36846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 lang="en-GB" sz="1000">
                <a:solidFill>
                  <a:schemeClr val="tx1">
                    <a:lumMod val="50000"/>
                  </a:schemeClr>
                </a:solidFill>
              </a:rPr>
              <a:t>图3。固件和软件架构概述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4CED18B5-4896-CDB5-50F8-A54D47B138BD}"/>
              </a:ext>
            </a:extLst>
          </p:cNvPr>
          <p:cNvSpPr txBox="1"/>
          <p:nvPr/>
        </p:nvSpPr>
        <p:spPr>
          <a:xfrm>
            <a:off x="1388662" y="3979114"/>
            <a:ext cx="534121" cy="276999"/>
          </a:xfrm>
          <a:prstGeom prst="rect">
            <a:avLst/>
          </a:prstGeom>
          <a:noFill/>
        </p:spPr>
        <p:txBody>
          <a:bodyPr rtlCol="0" wrap="square">
            <a:normAutofit fontScale="70710" lnSpcReduction="10000"/>
          </a:bodyPr>
          <a:lstStyle/>
          <a:p>
            <a:r>
              <a:rPr dirty="0" lang="en-GB" sz="1200">
                <a:solidFill>
                  <a:schemeClr val="tx1">
                    <a:lumMod val="50000"/>
                  </a:schemeClr>
                </a:solidFill>
              </a:rPr>
              <a:t>单片机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70940824-6FE8-0F27-5B43-9BDFA919E826}"/>
              </a:ext>
            </a:extLst>
          </p:cNvPr>
          <p:cNvSpPr txBox="1"/>
          <p:nvPr/>
        </p:nvSpPr>
        <p:spPr>
          <a:xfrm>
            <a:off x="6626228" y="3984092"/>
            <a:ext cx="397866" cy="276999"/>
          </a:xfrm>
          <a:prstGeom prst="rect">
            <a:avLst/>
          </a:prstGeom>
          <a:noFill/>
        </p:spPr>
        <p:txBody>
          <a:bodyPr rtlCol="0" wrap="none">
            <a:normAutofit fontScale="50000" lnSpcReduction="10000"/>
          </a:bodyPr>
          <a:lstStyle/>
          <a:p>
            <a:r>
              <a:rPr dirty="0" lang="en-GB" sz="1200">
                <a:solidFill>
                  <a:schemeClr val="tx1">
                    <a:lumMod val="50000"/>
                  </a:schemeClr>
                </a:solidFill>
              </a:rPr>
              <a:t>个人电脑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57E571A-435D-4634-EC15-E5421042C6FF}"/>
              </a:ext>
            </a:extLst>
          </p:cNvPr>
          <p:cNvSpPr txBox="1"/>
          <p:nvPr/>
        </p:nvSpPr>
        <p:spPr>
          <a:xfrm>
            <a:off x="1379138" y="1659607"/>
            <a:ext cx="845892" cy="276999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r>
              <a:rPr dirty="0" lang="en-GB" sz="1200">
                <a:solidFill>
                  <a:srgbClr val="EC008C"/>
                </a:solidFill>
              </a:rPr>
              <a:t>固件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673C2F7-9D7B-9237-54B0-EC3EDA229719}"/>
              </a:ext>
            </a:extLst>
          </p:cNvPr>
          <p:cNvSpPr txBox="1"/>
          <p:nvPr/>
        </p:nvSpPr>
        <p:spPr>
          <a:xfrm>
            <a:off x="6601148" y="1659607"/>
            <a:ext cx="845892" cy="276999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r>
              <a:rPr dirty="0" lang="en-GB" sz="1200">
                <a:solidFill>
                  <a:srgbClr val="EC008C"/>
                </a:solidFill>
              </a:rPr>
              <a:t>软件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581F9AD-2C15-0D33-8657-66CC3ECEC728}"/>
              </a:ext>
            </a:extLst>
          </p:cNvPr>
          <p:cNvSpPr/>
          <p:nvPr/>
        </p:nvSpPr>
        <p:spPr>
          <a:xfrm>
            <a:off x="4858123" y="2102884"/>
            <a:ext cx="1373292" cy="1922404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GB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3DE20368-B6FD-7AE9-EEE9-A78C24BC15D3}"/>
              </a:ext>
            </a:extLst>
          </p:cNvPr>
          <p:cNvSpPr txBox="1"/>
          <p:nvPr/>
        </p:nvSpPr>
        <p:spPr>
          <a:xfrm>
            <a:off x="5118789" y="1874401"/>
            <a:ext cx="845892" cy="215444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ctr"/>
            <a:r>
              <a:rPr dirty="0" lang="en-GB" sz="800">
                <a:solidFill>
                  <a:schemeClr val="accent4"/>
                </a:solidFill>
              </a:rPr>
              <a:t>蓝牙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C326903E-2A88-24C4-A6A7-75E02AE3E235}"/>
              </a:ext>
            </a:extLst>
          </p:cNvPr>
          <p:cNvSpPr txBox="1"/>
          <p:nvPr/>
        </p:nvSpPr>
        <p:spPr>
          <a:xfrm>
            <a:off x="6374210" y="2197696"/>
            <a:ext cx="264816" cy="184666"/>
          </a:xfrm>
          <a:prstGeom prst="rect">
            <a:avLst/>
          </a:prstGeom>
          <a:noFill/>
        </p:spPr>
        <p:txBody>
          <a:bodyPr rtlCol="0" wrap="none">
            <a:normAutofit fontScale="70710" lnSpcReduction="10000"/>
          </a:bodyPr>
          <a:lstStyle/>
          <a:p>
            <a:r>
              <a:rPr dirty="0" lang="en-GB" sz="600">
                <a:solidFill>
                  <a:schemeClr val="accent4"/>
                </a:solidFill>
              </a:rPr>
              <a:t>TX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5505E47-6792-7FE4-F45F-53B8437E877C}"/>
              </a:ext>
            </a:extLst>
          </p:cNvPr>
          <p:cNvSpPr txBox="1"/>
          <p:nvPr/>
        </p:nvSpPr>
        <p:spPr>
          <a:xfrm>
            <a:off x="4416007" y="2196457"/>
            <a:ext cx="288000" cy="184666"/>
          </a:xfrm>
          <a:prstGeom prst="rect">
            <a:avLst/>
          </a:prstGeom>
          <a:noFill/>
        </p:spPr>
        <p:txBody>
          <a:bodyPr rtlCol="0" wrap="square">
            <a:normAutofit fontScale="70710" lnSpcReduction="10000"/>
          </a:bodyPr>
          <a:lstStyle/>
          <a:p>
            <a:r>
              <a:rPr dirty="0" lang="en-GB" sz="600">
                <a:solidFill>
                  <a:schemeClr val="accent4"/>
                </a:solidFill>
              </a:rPr>
              <a:t>处方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6E0B67B-5CF6-22D6-B2B0-0C75743E814D}"/>
              </a:ext>
            </a:extLst>
          </p:cNvPr>
          <p:cNvSpPr txBox="1"/>
          <p:nvPr/>
        </p:nvSpPr>
        <p:spPr>
          <a:xfrm>
            <a:off x="4425286" y="3700143"/>
            <a:ext cx="264816" cy="184666"/>
          </a:xfrm>
          <a:prstGeom prst="rect">
            <a:avLst/>
          </a:prstGeom>
          <a:noFill/>
        </p:spPr>
        <p:txBody>
          <a:bodyPr rtlCol="0" wrap="none">
            <a:normAutofit fontScale="70710" lnSpcReduction="10000"/>
          </a:bodyPr>
          <a:lstStyle/>
          <a:p>
            <a:r>
              <a:rPr dirty="0" lang="en-GB" sz="600">
                <a:solidFill>
                  <a:schemeClr val="accent4"/>
                </a:solidFill>
              </a:rPr>
              <a:t>TX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DCDDF215-5FF7-C0C9-CCCF-78118D78D795}"/>
              </a:ext>
            </a:extLst>
          </p:cNvPr>
          <p:cNvSpPr txBox="1"/>
          <p:nvPr/>
        </p:nvSpPr>
        <p:spPr>
          <a:xfrm>
            <a:off x="6372663" y="3702770"/>
            <a:ext cx="274434" cy="184666"/>
          </a:xfrm>
          <a:prstGeom prst="rect">
            <a:avLst/>
          </a:prstGeom>
          <a:noFill/>
        </p:spPr>
        <p:txBody>
          <a:bodyPr rtlCol="0" wrap="none">
            <a:normAutofit fontScale="70710" lnSpcReduction="10000"/>
          </a:bodyPr>
          <a:lstStyle/>
          <a:p>
            <a:r>
              <a:rPr dirty="0" lang="en-GB" sz="600">
                <a:solidFill>
                  <a:schemeClr val="accent4"/>
                </a:solidFill>
              </a:rPr>
              <a:t>处方</a:t>
            </a:r>
          </a:p>
        </p:txBody>
      </p:sp>
    </p:spTree>
    <p:extLst>
      <p:ext uri="{BB962C8B-B14F-4D97-AF65-F5344CB8AC3E}">
        <p14:creationId xmlns:p14="http://schemas.microsoft.com/office/powerpoint/2010/main" val="4293102101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F71A6F4B-CC88-E55A-70A6-69C2A7566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C9854A-4891-1375-AC9B-F9407F08F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GB"/>
              <a:t>设计与建造2025：项目概述</a:t>
            </a:r>
            <a:br>
              <a:rPr dirty="0" lang="en-GB">
                <a:solidFill>
                  <a:srgbClr val="EC008C"/>
                </a:solidFill>
              </a:rPr>
            </a:br>
            <a:endParaRPr dirty="0"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C8AF9D-AA27-BD0B-F9F6-AEF4E723E813}"/>
              </a:ext>
            </a:extLst>
          </p:cNvPr>
          <p:cNvSpPr txBox="1"/>
          <p:nvPr/>
        </p:nvSpPr>
        <p:spPr>
          <a:xfrm>
            <a:off x="125729" y="3743884"/>
            <a:ext cx="5144917" cy="1338828"/>
          </a:xfrm>
          <a:prstGeom prst="rect">
            <a:avLst/>
          </a:prstGeom>
          <a:noFill/>
        </p:spPr>
        <p:txBody>
          <a:bodyPr wrap="square">
            <a:normAutofit fontScale="71403" lnSpcReduction="10000"/>
          </a:bodyPr>
          <a:lstStyle/>
          <a:p>
            <a:r>
              <a:rPr dirty="0" lang="en-GB" sz="900">
                <a:latin charset="0" panose="020B0604020202020204" pitchFamily="34" typeface="Arial"/>
                <a:cs charset="0" panose="020B0604020202020204" pitchFamily="34" typeface="Arial"/>
              </a:rPr>
              <a:t>引用:</a:t>
            </a:r>
          </a:p>
          <a:p>
            <a:r>
              <a:rPr dirty="0" lang="en-GB" sz="900">
                <a:latin charset="0" panose="020B0604020202020204" pitchFamily="34" typeface="Arial"/>
                <a:cs charset="0" panose="020B0604020202020204" pitchFamily="34"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https://github.com/stm32duino/Arduino_Core_STM32/wiki/Getting-Started</a:t>
            </a:r>
          </a:p>
          <a:p>
            <a:r>
              <a:rPr dirty="0" lang="en-GB" sz="900">
                <a:latin charset="0" panose="020B0604020202020204" pitchFamily="34" typeface="Arial"/>
                <a:cs charset="0" panose="020B0604020202020204" pitchFamily="34"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 https://github.com/Slamtec/rplidar_sdk</a:t>
            </a:r>
            <a:endParaRPr dirty="0" lang="en-GB" sz="900">
              <a:latin charset="0" panose="020B0604020202020204" pitchFamily="34" typeface="Arial"/>
              <a:cs charset="0" panose="020B0604020202020204" pitchFamily="34" typeface="Arial"/>
            </a:endParaRPr>
          </a:p>
          <a:p>
            <a:r>
              <a:rPr dirty="0" lang="en-GB" sz="900">
                <a:latin charset="0" panose="020B0604020202020204" pitchFamily="34" typeface="Arial"/>
                <a:cs charset="0" panose="020B0604020202020204" pitchFamily="34"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 https://github.com/DanielKalicki/RPLidar_Arduino/tree/main</a:t>
            </a:r>
            <a:endParaRPr dirty="0" lang="en-GB" sz="900">
              <a:latin charset="0" panose="020B0604020202020204" pitchFamily="34" typeface="Arial"/>
              <a:cs charset="0" panose="020B0604020202020204" pitchFamily="34" typeface="Arial"/>
            </a:endParaRPr>
          </a:p>
          <a:p>
            <a:r>
              <a:rPr dirty="0" lang="en-GB" sz="900" u="sng">
                <a:latin charset="0" panose="020B0604020202020204" pitchFamily="34" typeface="Arial"/>
                <a:cs charset="0" panose="020B0604020202020204" pitchFamily="34"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 https://github.com/farooqueesamiya/Odometry-and-Position-Estimation-for-Mobile-Robot</a:t>
            </a:r>
            <a:endParaRPr dirty="0" lang="en-GB" sz="900" u="sng">
              <a:latin charset="0" panose="020B0604020202020204" pitchFamily="34" typeface="Arial"/>
              <a:cs charset="0" panose="020B0604020202020204" pitchFamily="34" typeface="Arial"/>
            </a:endParaRPr>
          </a:p>
          <a:p>
            <a:r>
              <a:rPr dirty="0" lang="en-GB" sz="900">
                <a:latin charset="0" panose="020B0604020202020204" pitchFamily="34" typeface="Arial"/>
                <a:cs charset="0" panose="020B0604020202020204" pitchFamily="34"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 https://youtu.be/dTGITLnYAY0?si=K3ijiWW-yeb7LXuf</a:t>
            </a:r>
            <a:endParaRPr dirty="0" lang="en-GB" sz="900">
              <a:latin charset="0" panose="020B0604020202020204" pitchFamily="34" typeface="Arial"/>
              <a:cs charset="0" panose="020B0604020202020204" pitchFamily="34" typeface="Arial"/>
            </a:endParaRPr>
          </a:p>
          <a:p>
            <a:r>
              <a:rPr dirty="0" lang="en-GB" sz="900">
                <a:latin charset="0" panose="020B0604020202020204" pitchFamily="34" typeface="Arial"/>
                <a:cs charset="0" panose="020B0604020202020204" pitchFamily="34" typeface="Arial"/>
              </a:rPr>
              <a:t>[6] https://github.com/simondlevy/BreezySLAM</a:t>
            </a:r>
            <a:endParaRPr dirty="0" lang="en-GB" sz="900">
              <a:latin charset="0" panose="020B0604020202020204" pitchFamily="34" typeface="Arial"/>
              <a:cs charset="0" panose="020B0604020202020204" pitchFamily="34" typeface="Arial"/>
            </a:endParaRPr>
          </a:p>
          <a:p>
            <a:r>
              <a:rPr dirty="0" lang="en-GB" sz="900">
                <a:latin charset="0" panose="020B0604020202020204" pitchFamily="34" typeface="Arial"/>
                <a:cs charset="0" panose="020B0604020202020204" pitchFamily="34" typeface="Arial"/>
              </a:rPr>
              <a:t>[7] https://github.com/simondlevy/PyRoboViz</a:t>
            </a:r>
          </a:p>
          <a:p>
            <a:r>
              <a:rPr dirty="0" lang="en-GB" sz="900" u="sng">
                <a:latin charset="0" panose="020B0604020202020204" pitchFamily="34" typeface="Arial"/>
                <a:cs charset="0" panose="020B0604020202020204" pitchFamily="34" typeface="Arial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[8] https://github.com/AtsushiSakai/PythonRobotics</a:t>
            </a:r>
            <a:endParaRPr dirty="0" lang="en-GB" sz="900">
              <a:latin charset="0" panose="020B0604020202020204" pitchFamily="34" typeface="Arial"/>
              <a:cs charset="0" panose="020B0604020202020204" pitchFamily="34"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743C8E-AD86-974F-DC29-824B0979ED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2831" y="4176803"/>
            <a:ext cx="1001253" cy="90526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AB7142-2844-42B4-6BB0-93D619B781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7498" y="4170905"/>
            <a:ext cx="972416" cy="89014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0347F2-0601-CBF1-25B2-8F5E01BFAD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5969" y="4176804"/>
            <a:ext cx="920584" cy="90526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CBE6DC-DF67-28CA-F96F-769F54DEF893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r>
              <a:rPr b="1" dirty="0" lang="en-GB" sz="1100"/>
              <a:t>软件团队：主机PC软件开发</a:t>
            </a:r>
          </a:p>
          <a:p>
            <a:pPr lvl="1"/>
            <a:r>
              <a:rPr dirty="0" lang="en-GB" sz="1000"/>
              <a:t>使用Python开发机器人的高级控制系统，包括计算导航路点（目标位置）进行自主探索，SLAM地图构建，两点之间的路径规划。</a:t>
            </a:r>
          </a:p>
          <a:p>
            <a:pPr lvl="1"/>
            <a:r>
              <a:rPr dirty="0" lang="en-GB" sz="1000">
                <a:solidFill>
                  <a:srgbClr val="1C3D74"/>
                </a:solidFill>
              </a:rPr>
              <a:t>安装BreezySLAM[6]和PyRoboViz[7]来探索模拟环境中的SLAM映射和定位，并使用该框架来支持软件开发。</a:t>
            </a:r>
          </a:p>
          <a:p>
            <a:pPr lvl="1"/>
            <a:r>
              <a:rPr dirty="0" lang="en-GB" sz="1000"/>
              <a:t>自主导航，例如边界检测，用于绘制未知迷宫并定位出口点。这将生成一系列目标位置（x,y, θ），由固件执行。</a:t>
            </a:r>
            <a:endParaRPr dirty="0" lang="en-GB" sz="1000">
              <a:solidFill>
                <a:srgbClr val="1C3D74"/>
              </a:solidFill>
            </a:endParaRPr>
          </a:p>
          <a:p>
            <a:pPr lvl="1"/>
            <a:r>
              <a:rPr dirty="0" lang="en-GB" sz="1000"/>
              <a:t>SLAM地图构建和可视化使用从固件接收的数据，特别是当前位置（x,y, θ）和二维激光雷达扫描。</a:t>
            </a:r>
            <a:endParaRPr dirty="0" lang="en-GB" sz="1000">
              <a:solidFill>
                <a:srgbClr val="1C3D74"/>
              </a:solidFill>
            </a:endParaRPr>
          </a:p>
          <a:p>
            <a:pPr lvl="1"/>
            <a:r>
              <a:rPr dirty="0" lang="en-GB" sz="1000"/>
              <a:t>路径规划算法，例如A*，动态窗口方法（DWA），用于从退出点导航回起始位置，使用PythonRobotics[8]的参考和算法。</a:t>
            </a:r>
          </a:p>
          <a:p>
            <a:pPr lvl="1"/>
            <a:endParaRPr dirty="0" lang="en-GB" sz="1100"/>
          </a:p>
          <a:p>
            <a:pPr lvl="1"/>
            <a:endParaRPr dirty="0" lang="en-GB" sz="1100"/>
          </a:p>
          <a:p>
            <a:pPr lvl="1"/>
            <a:endParaRPr dirty="0" lang="en-GB" sz="1100"/>
          </a:p>
          <a:p>
            <a:endParaRPr dirty="0"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796D78C3-4498-C044-E03A-AD9D0A0933AC}"/>
                  </a:ext>
                </a:extLst>
              </p:cNvPr>
              <p:cNvSpPr>
                <a:spLocks noGrp="1"/>
              </p:cNvSpPr>
              <p:nvPr>
                <p:ph idx="1" sz="half"/>
              </p:nvPr>
            </p:nvSpPr>
            <p:spPr/>
            <p:txBody>
              <a:bodyPr>
                <a:normAutofit/>
              </a:bodyPr>
              <a:lstStyle/>
              <a:p>
                <a:r>
                  <a:rPr b="1" dirty="0" lang="en-GB" sz="1100"/>
                  <a:t>Hardware Team: Firmware Development</a:t>
                </a:r>
              </a:p>
              <a:p>
                <a:pPr lvl="1"/>
                <a:r>
                  <a:rPr dirty="0" lang="en-GB" sz="1000"/>
                  <a:t>Develop the low-level control system for hardware interfacing, sensor data acquisition, motor control, position estimation, and communication with the host PC.</a:t>
                </a:r>
                <a:endParaRPr dirty="0" lang="en-US" sz="1000"/>
              </a:p>
              <a:p>
                <a:pPr lvl="1"/>
                <a:r>
                  <a:rPr dirty="0" lang="en-GB" sz="1000"/>
                  <a:t>Setup Arduino framework with the STM32F446RE </a:t>
                </a:r>
                <a:r>
                  <a:rPr dirty="0" lang="en-GB" sz="1000">
                    <a:solidFill>
                      <a:srgbClr val="EC008C"/>
                    </a:solidFill>
                  </a:rPr>
                  <a:t>[1] </a:t>
                </a:r>
                <a:r>
                  <a:rPr dirty="0" lang="en-GB" sz="1000"/>
                  <a:t>for the firmware development.</a:t>
                </a:r>
                <a:endParaRPr dirty="0" lang="en-GB" sz="1000">
                  <a:solidFill>
                    <a:srgbClr val="EC008C"/>
                  </a:solidFill>
                </a:endParaRPr>
              </a:p>
              <a:p>
                <a:pPr lvl="1"/>
                <a:r>
                  <a:rPr dirty="0" lang="en-GB" sz="1000"/>
                  <a:t>Sensor data acquisition i.e. 2D LiDAR </a:t>
                </a:r>
                <a:r>
                  <a:rPr dirty="0" lang="en-GB" sz="1000">
                    <a:solidFill>
                      <a:srgbClr val="EC008C"/>
                    </a:solidFill>
                  </a:rPr>
                  <a:t>[2][3]</a:t>
                </a:r>
                <a:r>
                  <a:rPr dirty="0" lang="en-GB" sz="1000"/>
                  <a:t>, MPU6500 and motor encoder </a:t>
                </a:r>
                <a:r>
                  <a:rPr dirty="0" lang="en-GB" sz="1000">
                    <a:solidFill>
                      <a:srgbClr val="EC008C"/>
                    </a:solidFill>
                  </a:rPr>
                  <a:t>[4][5]</a:t>
                </a:r>
              </a:p>
              <a:p>
                <a:pPr lvl="1"/>
                <a:r>
                  <a:rPr dirty="0" lang="en-GB" sz="1000"/>
                  <a:t>Compute odometry and position estimation </a:t>
                </a:r>
                <a:r>
                  <a:rPr dirty="0" lang="en-GB" sz="1000">
                    <a:solidFill>
                      <a:srgbClr val="EC008C"/>
                    </a:solidFill>
                  </a:rPr>
                  <a:t>[4]</a:t>
                </a:r>
                <a:r>
                  <a:rPr dirty="0" lang="en-GB" sz="1000"/>
                  <a:t> of the robot’s </a:t>
                </a:r>
                <a:r>
                  <a:rPr dirty="0" lang="en-GB" sz="1000">
                    <a:solidFill>
                      <a:srgbClr val="EC008C"/>
                    </a:solidFill>
                  </a:rPr>
                  <a:t>current position (</a:t>
                </a:r>
                <a:r>
                  <a:rPr dirty="0" err="1" lang="en-GB" sz="1000">
                    <a:solidFill>
                      <a:srgbClr val="EC008C"/>
                    </a:solidFill>
                  </a:rPr>
                  <a:t>x,y</a:t>
                </a:r>
                <a:r>
                  <a:rPr dirty="0" lang="en-GB" sz="1000">
                    <a:solidFill>
                      <a:srgbClr val="EC008C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mtClean="0" sz="1000">
                        <a:solidFill>
                          <a:srgbClr val="EC008C"/>
                        </a:solidFill>
                        <a:latin charset="0" panose="02040503050406030204" pitchFamily="18" typeface="Cambria Math"/>
                      </a:rPr>
                      <m:t>θ</m:t>
                    </m:r>
                  </m:oMath>
                </a14:m>
                <a:r>
                  <a:rPr dirty="0" lang="en-GB" sz="1000">
                    <a:solidFill>
                      <a:srgbClr val="EC008C"/>
                    </a:solidFill>
                  </a:rPr>
                  <a:t>)</a:t>
                </a:r>
              </a:p>
              <a:p>
                <a:pPr lvl="1"/>
                <a:r>
                  <a:rPr dirty="0" lang="en-GB" sz="1000"/>
                  <a:t>Control motor with PID algorithm </a:t>
                </a:r>
                <a:r>
                  <a:rPr dirty="0" lang="en-GB" sz="1000">
                    <a:solidFill>
                      <a:srgbClr val="EC008C"/>
                    </a:solidFill>
                  </a:rPr>
                  <a:t>[4][5]</a:t>
                </a:r>
                <a:r>
                  <a:rPr dirty="0" lang="en-GB" sz="1000"/>
                  <a:t> to navigate the robot to a </a:t>
                </a:r>
                <a:r>
                  <a:rPr dirty="0" lang="en-GB" sz="1000">
                    <a:solidFill>
                      <a:srgbClr val="EC008C"/>
                    </a:solidFill>
                  </a:rPr>
                  <a:t>target position (</a:t>
                </a:r>
                <a:r>
                  <a:rPr dirty="0" err="1" lang="en-GB" sz="1000">
                    <a:solidFill>
                      <a:srgbClr val="EC008C"/>
                    </a:solidFill>
                  </a:rPr>
                  <a:t>x,y</a:t>
                </a:r>
                <a:r>
                  <a:rPr dirty="0" lang="en-GB" sz="1000">
                    <a:solidFill>
                      <a:srgbClr val="EC008C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000">
                        <a:solidFill>
                          <a:srgbClr val="EC008C"/>
                        </a:solidFill>
                        <a:latin charset="0" panose="02040503050406030204" pitchFamily="18" typeface="Cambria Math"/>
                      </a:rPr>
                      <m:t>θ</m:t>
                    </m:r>
                  </m:oMath>
                </a14:m>
                <a:r>
                  <a:rPr dirty="0" lang="en-GB" sz="1000">
                    <a:solidFill>
                      <a:srgbClr val="EC008C"/>
                    </a:solidFill>
                  </a:rPr>
                  <a:t>)</a:t>
                </a:r>
              </a:p>
              <a:p>
                <a:pPr lvl="1"/>
                <a:r>
                  <a:rPr dirty="0" lang="en-GB" sz="1000"/>
                  <a:t>Transmit sensor data (current position and 2D LiDAR) to the host PC and receive navigation waypoint commands (target positions) via Bluetooth communication.</a:t>
                </a:r>
              </a:p>
            </p:txBody>
          </p:sp>
        </mc:Choice>
        <mc:Fallback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796D78C3-4498-C044-E03A-AD9D0A0933AC}"/>
                  </a:ext>
                </a:extLst>
              </p:cNvPr>
              <p:cNvSpPr>
                <a:spLocks noAdjustHandles="1" noChangeArrowheads="1" noChangeAspect="1" noChangeShapeType="1" noEditPoints="1" noGrp="1" noMove="1" noResize="1" noRot="1" noTextEdit="1"/>
              </p:cNvSpPr>
              <p:nvPr>
                <p:ph idx="1" sz="half"/>
              </p:nvPr>
            </p:nvSpPr>
            <p:spPr>
              <a:blipFill>
                <a:blip r:embed="rId13"/>
                <a:stretch>
                  <a:fillRect t="-6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5660872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21CA5CD-6264-716D-9097-9290B55A7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A78E7E3-5D1B-616F-EBBA-8418E2269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27" y="274638"/>
            <a:ext cx="8591566" cy="765019"/>
          </a:xfrm>
        </p:spPr>
        <p:txBody>
          <a:bodyPr>
            <a:normAutofit fontScale="93808" lnSpcReduction="10000"/>
          </a:bodyPr>
          <a:lstStyle/>
          <a:p>
            <a:r>
              <a:rPr dirty="0" lang="en-GB"/>
              <a:t>Design &amp; Build 2025：开发方法学</a:t>
            </a:r>
            <a:br>
              <a:rPr dirty="0" lang="en-GB"/>
            </a:br>
            <a:endParaRPr dirty="0" lang="en-GB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B8F2A63-CB7F-7E83-6C86-AA75E7E56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126" y="1039656"/>
            <a:ext cx="8591566" cy="3829205"/>
          </a:xfrm>
        </p:spPr>
        <p:txBody>
          <a:bodyPr>
            <a:normAutofit/>
          </a:bodyPr>
          <a:lstStyle/>
          <a:p>
            <a:r>
              <a:rPr b="1" dirty="0" lang="en-US"/>
              <a:t>第一阶段：培训</a:t>
            </a:r>
          </a:p>
          <a:p>
            <a:pPr lvl="1"/>
            <a:r>
              <a:rPr dirty="0" lang="en-US"/>
              <a:t>学生将在经验丰富的教练的指导下，分别接受各自技能（硬件和软件）的培训。</a:t>
            </a:r>
          </a:p>
          <a:p>
            <a:pPr lvl="1"/>
            <a:r>
              <a:rPr dirty="0" lang="en-GB"/>
              <a:t>在此阶段，每个小组的硬件和软件团队开始沟通并开始构思整个系统，包括自主机器人行为的逻辑，固件和主机PC机软件之间的预期数据交换以及项目规范。这一协作过程产生了一个共享的开发计划，为实施奠定了基础。</a:t>
            </a:r>
          </a:p>
          <a:p>
            <a:r>
              <a:rPr b="1" dirty="0" lang="en-US"/>
              <a:t>阶段2：项目开发</a:t>
            </a:r>
          </a:p>
          <a:p>
            <a:pPr lvl="1"/>
            <a:r>
              <a:rPr dirty="0" lang="en-GB"/>
              <a:t>随着系统概念的明确建立，硬件和软件团队开始并行设计和开发各自的组件：</a:t>
            </a:r>
          </a:p>
          <a:p>
            <a:pPr lvl="2"/>
            <a:r>
              <a:rPr dirty="0" lang="en-GB"/>
              <a:t>硬件团队通过PC机通过蓝牙手动发送目标位置（x,y, θ）。固件控制电机到达目标，同时获取传感器数据，计算里程计和位置估计，并将当前位置和2D激光雷达数据传输到主机PC机。</a:t>
            </a:r>
          </a:p>
          <a:p>
            <a:pPr lvl="2"/>
            <a:r>
              <a:rPr dirty="0" lang="en-GB"/>
              <a:t>Software团队使用仿真环境和开源Python库来开发和测试自主导航。这包括模拟2D激光雷达和里程计，应用SLAM进行地图构建，可视化机器人的姿态和轨迹，以及基于生成的地图在两点之间实施路径规划。</a:t>
            </a:r>
          </a:p>
          <a:p>
            <a:pPr lvl="1"/>
            <a:r>
              <a:rPr dirty="0" lang="en-US"/>
              <a:t>保持持续的协作和沟通，以确保硬件和软件组件的成功集成。</a:t>
            </a:r>
          </a:p>
          <a:p>
            <a:pPr lvl="1"/>
            <a:endParaRPr dirty="0" lang="en-US"/>
          </a:p>
          <a:p>
            <a:endParaRPr dirty="0" lang="en-GB"/>
          </a:p>
        </p:txBody>
      </p:sp>
    </p:spTree>
    <p:extLst>
      <p:ext uri="{BB962C8B-B14F-4D97-AF65-F5344CB8AC3E}">
        <p14:creationId xmlns:p14="http://schemas.microsoft.com/office/powerpoint/2010/main" val="1432953186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0E3C320-3993-5CC3-6476-F26D8B68C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5F2830-0A1C-6669-35E0-26F439048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GB"/>
              <a:t>设计与构建2025：开发方法论</a:t>
            </a:r>
            <a:br>
              <a:rPr dirty="0" lang="en-GB">
                <a:solidFill>
                  <a:srgbClr val="EC008C"/>
                </a:solidFill>
              </a:rPr>
            </a:br>
            <a:endParaRPr dirty="0" lang="en-GB">
              <a:solidFill>
                <a:srgbClr val="EC008C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15E354-E069-88CB-C9D9-369C30F70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 lang="en-US"/>
              <a:t>阶段3：系统集成与评估</a:t>
            </a:r>
          </a:p>
          <a:p>
            <a:pPr lvl="1"/>
            <a:r>
              <a:rPr dirty="0" lang="en-GB"/>
              <a:t>这是最后的开发阶段，涉及集成固件和软件，以测试、评估和验证完整的机器人系统。</a:t>
            </a:r>
          </a:p>
          <a:p>
            <a:pPr lvl="1"/>
            <a:r>
              <a:rPr dirty="0" lang="en-GB"/>
              <a:t>机器人应自主探索未知迷宫，确定出口点，并返回起始位置。</a:t>
            </a:r>
          </a:p>
          <a:p>
            <a:pPr lvl="1"/>
            <a:r>
              <a:rPr dirty="0" lang="en-GB"/>
              <a:t>根据测试结果，进一步完善和增强硬件和软件。</a:t>
            </a:r>
          </a:p>
          <a:p>
            <a:pPr lvl="1"/>
            <a:r>
              <a:rPr dirty="0" lang="en-GB"/>
              <a:t>增加新的功能和创新的解决方案来推进项目。</a:t>
            </a:r>
            <a:endParaRPr dirty="0" lang="en-US"/>
          </a:p>
          <a:p>
            <a:endParaRPr b="1" dirty="0" lang="en-US"/>
          </a:p>
          <a:p>
            <a:r>
              <a:rPr b="1" dirty="0" lang="en-US"/>
              <a:t>第四阶段：项目评估与竞赛</a:t>
            </a:r>
          </a:p>
          <a:p>
            <a:pPr lvl="1"/>
            <a:r>
              <a:rPr dirty="0" lang="en-GB">
                <a:solidFill>
                  <a:srgbClr val="EC008C"/>
                </a:solidFill>
              </a:rPr>
              <a:t>项目评估基于完成水平，即基础、中级和高级，以及每个完成级别内的工作质量和其他可交付成果，即视频、文档和演示文稿。</a:t>
            </a:r>
          </a:p>
          <a:p>
            <a:pPr lvl="1"/>
            <a:r>
              <a:rPr dirty="0" lang="en-GB"/>
              <a:t>达到中级和高级完成水平的团体将有资格参加比赛。</a:t>
            </a:r>
          </a:p>
          <a:p>
            <a:pPr lvl="1"/>
            <a:r>
              <a:rPr dirty="0" lang="en-GB"/>
              <a:t>项目评估和比赛的综合得分将决定前三名的小组，他们将获得奖励/认可。</a:t>
            </a:r>
            <a:endParaRPr b="1" dirty="0" lang="en-US"/>
          </a:p>
          <a:p>
            <a:pPr lvl="1"/>
            <a:endParaRPr dirty="0" lang="en-GB" sz="650"/>
          </a:p>
          <a:p>
            <a:pPr lvl="1"/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3689088178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3523DC4C-D56A-46D3-4458-D0B45EB33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463CDD-98E9-8276-FDA3-493A26937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27" y="274638"/>
            <a:ext cx="8591566" cy="765019"/>
          </a:xfrm>
        </p:spPr>
        <p:txBody>
          <a:bodyPr/>
          <a:lstStyle/>
          <a:p>
            <a:r>
              <a:rPr dirty="0" lang="en-GB"/>
              <a:t>设计与建造2025：可交付成果</a:t>
            </a:r>
            <a:br>
              <a:rPr dirty="0" lang="en-GB"/>
            </a:br>
            <a:endParaRPr dirty="0"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5918EE-C9ED-DCF7-4BEC-E1185EFB7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126" y="1039656"/>
            <a:ext cx="8591566" cy="3829205"/>
          </a:xfrm>
        </p:spPr>
        <p:txBody>
          <a:bodyPr>
            <a:normAutofit/>
          </a:bodyPr>
          <a:lstStyle/>
          <a:p>
            <a:r>
              <a:rPr b="1" dirty="0" lang="en-US"/>
              <a:t>宣传片（最多60秒）</a:t>
            </a:r>
          </a:p>
          <a:p>
            <a:pPr lvl="1"/>
            <a:r>
              <a:rPr dirty="0" lang="en-US"/>
              <a:t>展示你的机器人在达到完成水平时的能力。</a:t>
            </a:r>
          </a:p>
          <a:p>
            <a:endParaRPr dirty="0" lang="en-US"/>
          </a:p>
          <a:p>
            <a:r>
              <a:rPr b="1" dirty="0" lang="en-US"/>
              <a:t>项目报告（PDF，最多10页）和代码Zip</a:t>
            </a:r>
          </a:p>
          <a:p>
            <a:pPr lvl="1"/>
            <a:r>
              <a:rPr dirty="0" lang="en-US"/>
              <a:t>涵盖固件和软件的设计和开发。</a:t>
            </a:r>
          </a:p>
          <a:p>
            <a:pPr lvl="1"/>
            <a:r>
              <a:rPr dirty="0" lang="en-US"/>
              <a:t>完整代码：固件（Arduino）和软件（Python）</a:t>
            </a:r>
          </a:p>
          <a:p>
            <a:pPr lvl="1"/>
            <a:endParaRPr dirty="0" lang="en-US"/>
          </a:p>
          <a:p>
            <a:r>
              <a:rPr b="1" dirty="0" lang="en-US"/>
              <a:t>演示和现场演示（最多10分钟）</a:t>
            </a:r>
          </a:p>
          <a:p>
            <a:pPr lvl="1"/>
            <a:r>
              <a:rPr dirty="0" lang="en-US"/>
              <a:t>展示主要成果和创新</a:t>
            </a:r>
          </a:p>
          <a:p>
            <a:pPr lvl="1"/>
            <a:endParaRPr dirty="0" lang="en-US"/>
          </a:p>
          <a:p>
            <a:r>
              <a:rPr b="1" dirty="0" lang="en-US"/>
              <a:t>重要日期待定</a:t>
            </a:r>
          </a:p>
          <a:p>
            <a:pPr lvl="1"/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1346707242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2C3DDC20-CD86-6A3F-CDBC-7A04B0010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071ADC-51C7-8433-5AED-9ECCE3A9E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27" y="274638"/>
            <a:ext cx="8591566" cy="765019"/>
          </a:xfrm>
        </p:spPr>
        <p:txBody>
          <a:bodyPr/>
          <a:lstStyle/>
          <a:p>
            <a:r>
              <a:rPr dirty="0" lang="en-GB"/>
              <a:t>设计与建造2025：完成水平</a:t>
            </a:r>
            <a:br>
              <a:rPr dirty="0" lang="en-GB"/>
            </a:br>
            <a:endParaRPr dirty="0"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DE021C-3E2E-399F-43ED-C2A6DFE5A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885" y="1039580"/>
            <a:ext cx="2845889" cy="3829205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2500"/>
          </a:bodyPr>
          <a:lstStyle/>
          <a:p>
            <a:pPr indent="-185738" marL="185738"/>
            <a:r>
              <a:rPr b="1" dirty="0" lang="en-GB" sz="1200"/>
              <a:t>基础水平完成——基础集成与自主运行</a:t>
            </a:r>
          </a:p>
          <a:p>
            <a:pPr indent="-177800" lvl="1" marL="363538"/>
            <a:r>
              <a:rPr dirty="0" lang="en-GB"/>
              <a:t>机器人利用PID成功地完成了向给定目标位置运动的低级控制。</a:t>
            </a:r>
          </a:p>
          <a:p>
            <a:pPr indent="-177800" lvl="1" marL="363538"/>
            <a:r>
              <a:rPr dirty="0" lang="en-GB"/>
              <a:t>固件可靠地计算里程计和当前位置（x,y, θ），并通过蓝牙将2D激光雷达和位置数据传输到主机PC机。</a:t>
            </a:r>
          </a:p>
          <a:p>
            <a:pPr indent="-177800" lvl="1" marL="363538"/>
            <a:r>
              <a:rPr dirty="0" lang="en-GB"/>
              <a:t>系统响应来自主机PC机的导航路点命令。</a:t>
            </a:r>
          </a:p>
          <a:p>
            <a:pPr indent="-177800" lvl="1" marL="363538"/>
            <a:r>
              <a:rPr dirty="0" lang="en-GB"/>
              <a:t>主机PC机软件使用PyRoboViz实时可视化机器人运动和激光雷达数据。</a:t>
            </a:r>
          </a:p>
          <a:p>
            <a:pPr indent="-177800" lvl="1" marL="363538"/>
            <a:r>
              <a:rPr dirty="0" lang="en-GB"/>
              <a:t>演示了具有动态避障功能的简单自主导航行为。</a:t>
            </a:r>
          </a:p>
          <a:p>
            <a:pPr indent="-177800" lvl="1" marL="363538"/>
            <a:r>
              <a:rPr dirty="0" lang="en-GB"/>
              <a:t>这个级别不包括SLAM或映射。</a:t>
            </a:r>
          </a:p>
          <a:p>
            <a:pPr lvl="1"/>
            <a:endParaRPr dirty="0" lang="en-GB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78593429-A550-F7C3-9AC7-883965CA86C2}"/>
              </a:ext>
            </a:extLst>
          </p:cNvPr>
          <p:cNvSpPr txBox="1">
            <a:spLocks/>
          </p:cNvSpPr>
          <p:nvPr/>
        </p:nvSpPr>
        <p:spPr>
          <a:xfrm>
            <a:off x="3166471" y="1028173"/>
            <a:ext cx="2846333" cy="3840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bIns="45720" lIns="91440" rIns="91440" rtlCol="0" tIns="45720" vert="horz">
            <a:normAutofit/>
          </a:bodyPr>
          <a:lstStyle>
            <a:lvl1pPr algn="l" defTabSz="914400" eaLnBrk="1" hangingPunct="1" indent="-228600" latinLnBrk="0" marL="228600" rtl="0">
              <a:lnSpc>
                <a:spcPct val="90000"/>
              </a:lnSpc>
              <a:spcBef>
                <a:spcPts val="1000"/>
              </a:spcBef>
              <a:buFont charset="0" panose="020B0604020202020204" pitchFamily="34" typeface="Arial"/>
              <a:buChar char="•"/>
              <a:defRPr kern="1200" sz="1400">
                <a:solidFill>
                  <a:srgbClr val="1C3D74"/>
                </a:solidFill>
                <a:latin charset="0" panose="020B0604020202020204" pitchFamily="34" typeface="Arial"/>
                <a:ea typeface="+mn-ea"/>
                <a:cs charset="0" panose="020B0604020202020204" pitchFamily="34" typeface="Arial"/>
              </a:defRPr>
            </a:lvl1pPr>
            <a:lvl2pPr algn="l" defTabSz="914400" eaLnBrk="1" hangingPunct="1" indent="-228600" latinLnBrk="0" marL="685800" rtl="0">
              <a:lnSpc>
                <a:spcPct val="90000"/>
              </a:lnSpc>
              <a:spcBef>
                <a:spcPts val="500"/>
              </a:spcBef>
              <a:buFont charset="0" panose="020B0604020202020204" pitchFamily="34" typeface="Arial"/>
              <a:buChar char="•"/>
              <a:defRPr kern="1200" sz="1200">
                <a:solidFill>
                  <a:srgbClr val="1C3D74"/>
                </a:solidFill>
                <a:latin charset="0" panose="020B0604020202020204" pitchFamily="34" typeface="Arial"/>
                <a:ea typeface="+mn-ea"/>
                <a:cs charset="0" panose="020B0604020202020204" pitchFamily="34" typeface="Arial"/>
              </a:defRPr>
            </a:lvl2pPr>
            <a:lvl3pPr algn="l" defTabSz="914400" eaLnBrk="1" hangingPunct="1" indent="-228600" latinLnBrk="0" marL="1143000" rtl="0">
              <a:lnSpc>
                <a:spcPct val="90000"/>
              </a:lnSpc>
              <a:spcBef>
                <a:spcPts val="500"/>
              </a:spcBef>
              <a:buFont charset="0" panose="020B0604020202020204" pitchFamily="34" typeface="Arial"/>
              <a:buChar char="•"/>
              <a:defRPr kern="1200" sz="1100">
                <a:solidFill>
                  <a:srgbClr val="1C3D74"/>
                </a:solidFill>
                <a:latin charset="0" panose="020B0604020202020204" pitchFamily="34" typeface="Arial"/>
                <a:ea typeface="+mn-ea"/>
                <a:cs charset="0" panose="020B0604020202020204" pitchFamily="34" typeface="Arial"/>
              </a:defRPr>
            </a:lvl3pPr>
            <a:lvl4pPr algn="l" defTabSz="914400" eaLnBrk="1" hangingPunct="1" indent="-228600" latinLnBrk="0" marL="1600200" rtl="0">
              <a:lnSpc>
                <a:spcPct val="90000"/>
              </a:lnSpc>
              <a:spcBef>
                <a:spcPts val="500"/>
              </a:spcBef>
              <a:buFont charset="0" panose="020B0604020202020204" pitchFamily="34" typeface="Arial"/>
              <a:buChar char="•"/>
              <a:defRPr kern="1200" sz="1050">
                <a:solidFill>
                  <a:srgbClr val="1C3D74"/>
                </a:solidFill>
                <a:latin charset="0" panose="020B0604020202020204" pitchFamily="34" typeface="Arial"/>
                <a:ea typeface="+mn-ea"/>
                <a:cs charset="0" panose="020B0604020202020204" pitchFamily="34" typeface="Arial"/>
              </a:defRPr>
            </a:lvl4pPr>
            <a:lvl5pPr algn="l" defTabSz="914400" eaLnBrk="1" hangingPunct="1" indent="-228600" latinLnBrk="0" marL="2057400" rtl="0">
              <a:lnSpc>
                <a:spcPct val="90000"/>
              </a:lnSpc>
              <a:spcBef>
                <a:spcPts val="500"/>
              </a:spcBef>
              <a:buFont charset="0" panose="020B0604020202020204" pitchFamily="34" typeface="Arial"/>
              <a:buChar char="•"/>
              <a:defRPr kern="1200" sz="1050">
                <a:solidFill>
                  <a:srgbClr val="1C3D74"/>
                </a:solidFill>
                <a:latin charset="0" panose="020B0604020202020204" pitchFamily="34" typeface="Arial"/>
                <a:ea typeface="+mn-ea"/>
                <a:cs charset="0" panose="020B0604020202020204" pitchFamily="34" typeface="Arial"/>
              </a:defRPr>
            </a:lvl5pPr>
            <a:lvl6pPr algn="l" defTabSz="914400" eaLnBrk="1" hangingPunct="1" indent="-228600" latinLnBrk="0" marL="2514600" rtl="0">
              <a:lnSpc>
                <a:spcPct val="90000"/>
              </a:lnSpc>
              <a:spcBef>
                <a:spcPts val="500"/>
              </a:spcBef>
              <a:buFont charset="0" panose="020B0604020202020204" pitchFamily="34" typeface="Arial"/>
              <a:buChar char="•"/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indent="-228600" latinLnBrk="0" marL="2971800" rtl="0">
              <a:lnSpc>
                <a:spcPct val="90000"/>
              </a:lnSpc>
              <a:spcBef>
                <a:spcPts val="500"/>
              </a:spcBef>
              <a:buFont charset="0" panose="020B0604020202020204" pitchFamily="34" typeface="Arial"/>
              <a:buChar char="•"/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indent="-228600" latinLnBrk="0" marL="3429000" rtl="0">
              <a:lnSpc>
                <a:spcPct val="90000"/>
              </a:lnSpc>
              <a:spcBef>
                <a:spcPts val="500"/>
              </a:spcBef>
              <a:buFont charset="0" panose="020B0604020202020204" pitchFamily="34" typeface="Arial"/>
              <a:buChar char="•"/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indent="-228600" latinLnBrk="0" marL="3886200" rtl="0">
              <a:lnSpc>
                <a:spcPct val="90000"/>
              </a:lnSpc>
              <a:spcBef>
                <a:spcPts val="500"/>
              </a:spcBef>
              <a:buFont charset="0" panose="020B0604020202020204" pitchFamily="34" typeface="Arial"/>
              <a:buChar char="•"/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85738" marL="185738"/>
            <a:r>
              <a:rPr b="1" dirty="0" lang="en-GB" sz="1100"/>
              <a:t>中级完成-自主探索和测绘</a:t>
            </a:r>
          </a:p>
          <a:p>
            <a:pPr indent="-177800" lvl="1" marL="363538"/>
            <a:r>
              <a:rPr dirty="0" lang="en-GB" sz="1100"/>
              <a:t>所有基本级的功能都是完整的，完全集成的。</a:t>
            </a:r>
          </a:p>
          <a:p>
            <a:pPr indent="-177800" lvl="1" marL="363538"/>
            <a:r>
              <a:rPr dirty="0" lang="en-GB" sz="1100"/>
              <a:t>机器人使用改进的导航逻辑（例如，基于边界的探索）自主探索未知环境。</a:t>
            </a:r>
          </a:p>
          <a:p>
            <a:pPr indent="-177800" lvl="1" marL="363538"/>
            <a:r>
              <a:rPr dirty="0" lang="en-GB" sz="1100"/>
              <a:t>利用BleezySLAM构建环境动态SLAM地图。</a:t>
            </a:r>
          </a:p>
          <a:p>
            <a:pPr indent="-177800" lvl="1" marL="363538"/>
            <a:r>
              <a:rPr dirty="0" lang="en-GB" sz="1100"/>
              <a:t>主机PC使用PyRoboViz可视化不断发展的SLAM构建地图和实时机器人轨迹。</a:t>
            </a:r>
          </a:p>
          <a:p>
            <a:pPr indent="-177800" lvl="1" marL="363538"/>
            <a:r>
              <a:rPr dirty="0" lang="en-GB" sz="1100"/>
              <a:t>软件检测并标记地图中的出口点作为其自主行为的一部分。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C8135D1E-65B4-F049-1220-B76CC9D16D62}"/>
              </a:ext>
            </a:extLst>
          </p:cNvPr>
          <p:cNvSpPr txBox="1">
            <a:spLocks/>
          </p:cNvSpPr>
          <p:nvPr/>
        </p:nvSpPr>
        <p:spPr>
          <a:xfrm>
            <a:off x="6129501" y="1039657"/>
            <a:ext cx="2845889" cy="38290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45720" lIns="91440" rIns="91440" rtlCol="0" tIns="45720" vert="horz">
            <a:normAutofit/>
          </a:bodyPr>
          <a:lstStyle>
            <a:lvl1pPr algn="l" defTabSz="914400" eaLnBrk="1" hangingPunct="1" indent="-228600" latinLnBrk="0" marL="228600" rtl="0">
              <a:lnSpc>
                <a:spcPct val="90000"/>
              </a:lnSpc>
              <a:spcBef>
                <a:spcPts val="1000"/>
              </a:spcBef>
              <a:buFont charset="0" panose="020B0604020202020204" pitchFamily="34" typeface="Arial"/>
              <a:buChar char="•"/>
              <a:defRPr kern="1200" sz="1400">
                <a:solidFill>
                  <a:srgbClr val="1C3D74"/>
                </a:solidFill>
                <a:latin charset="0" panose="020B0604020202020204" pitchFamily="34" typeface="Arial"/>
                <a:ea typeface="+mn-ea"/>
                <a:cs charset="0" panose="020B0604020202020204" pitchFamily="34" typeface="Arial"/>
              </a:defRPr>
            </a:lvl1pPr>
            <a:lvl2pPr algn="l" defTabSz="914400" eaLnBrk="1" hangingPunct="1" indent="-228600" latinLnBrk="0" marL="685800" rtl="0">
              <a:lnSpc>
                <a:spcPct val="90000"/>
              </a:lnSpc>
              <a:spcBef>
                <a:spcPts val="500"/>
              </a:spcBef>
              <a:buFont charset="0" panose="020B0604020202020204" pitchFamily="34" typeface="Arial"/>
              <a:buChar char="•"/>
              <a:defRPr kern="1200" sz="1200">
                <a:solidFill>
                  <a:srgbClr val="1C3D74"/>
                </a:solidFill>
                <a:latin charset="0" panose="020B0604020202020204" pitchFamily="34" typeface="Arial"/>
                <a:ea typeface="+mn-ea"/>
                <a:cs charset="0" panose="020B0604020202020204" pitchFamily="34" typeface="Arial"/>
              </a:defRPr>
            </a:lvl2pPr>
            <a:lvl3pPr algn="l" defTabSz="914400" eaLnBrk="1" hangingPunct="1" indent="-228600" latinLnBrk="0" marL="1143000" rtl="0">
              <a:lnSpc>
                <a:spcPct val="90000"/>
              </a:lnSpc>
              <a:spcBef>
                <a:spcPts val="500"/>
              </a:spcBef>
              <a:buFont charset="0" panose="020B0604020202020204" pitchFamily="34" typeface="Arial"/>
              <a:buChar char="•"/>
              <a:defRPr kern="1200" sz="1100">
                <a:solidFill>
                  <a:srgbClr val="1C3D74"/>
                </a:solidFill>
                <a:latin charset="0" panose="020B0604020202020204" pitchFamily="34" typeface="Arial"/>
                <a:ea typeface="+mn-ea"/>
                <a:cs charset="0" panose="020B0604020202020204" pitchFamily="34" typeface="Arial"/>
              </a:defRPr>
            </a:lvl3pPr>
            <a:lvl4pPr algn="l" defTabSz="914400" eaLnBrk="1" hangingPunct="1" indent="-228600" latinLnBrk="0" marL="1600200" rtl="0">
              <a:lnSpc>
                <a:spcPct val="90000"/>
              </a:lnSpc>
              <a:spcBef>
                <a:spcPts val="500"/>
              </a:spcBef>
              <a:buFont charset="0" panose="020B0604020202020204" pitchFamily="34" typeface="Arial"/>
              <a:buChar char="•"/>
              <a:defRPr kern="1200" sz="1050">
                <a:solidFill>
                  <a:srgbClr val="1C3D74"/>
                </a:solidFill>
                <a:latin charset="0" panose="020B0604020202020204" pitchFamily="34" typeface="Arial"/>
                <a:ea typeface="+mn-ea"/>
                <a:cs charset="0" panose="020B0604020202020204" pitchFamily="34" typeface="Arial"/>
              </a:defRPr>
            </a:lvl4pPr>
            <a:lvl5pPr algn="l" defTabSz="914400" eaLnBrk="1" hangingPunct="1" indent="-228600" latinLnBrk="0" marL="2057400" rtl="0">
              <a:lnSpc>
                <a:spcPct val="90000"/>
              </a:lnSpc>
              <a:spcBef>
                <a:spcPts val="500"/>
              </a:spcBef>
              <a:buFont charset="0" panose="020B0604020202020204" pitchFamily="34" typeface="Arial"/>
              <a:buChar char="•"/>
              <a:defRPr kern="1200" sz="1050">
                <a:solidFill>
                  <a:srgbClr val="1C3D74"/>
                </a:solidFill>
                <a:latin charset="0" panose="020B0604020202020204" pitchFamily="34" typeface="Arial"/>
                <a:ea typeface="+mn-ea"/>
                <a:cs charset="0" panose="020B0604020202020204" pitchFamily="34" typeface="Arial"/>
              </a:defRPr>
            </a:lvl5pPr>
            <a:lvl6pPr algn="l" defTabSz="914400" eaLnBrk="1" hangingPunct="1" indent="-228600" latinLnBrk="0" marL="2514600" rtl="0">
              <a:lnSpc>
                <a:spcPct val="90000"/>
              </a:lnSpc>
              <a:spcBef>
                <a:spcPts val="500"/>
              </a:spcBef>
              <a:buFont charset="0" panose="020B0604020202020204" pitchFamily="34" typeface="Arial"/>
              <a:buChar char="•"/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indent="-228600" latinLnBrk="0" marL="2971800" rtl="0">
              <a:lnSpc>
                <a:spcPct val="90000"/>
              </a:lnSpc>
              <a:spcBef>
                <a:spcPts val="500"/>
              </a:spcBef>
              <a:buFont charset="0" panose="020B0604020202020204" pitchFamily="34" typeface="Arial"/>
              <a:buChar char="•"/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indent="-228600" latinLnBrk="0" marL="3429000" rtl="0">
              <a:lnSpc>
                <a:spcPct val="90000"/>
              </a:lnSpc>
              <a:spcBef>
                <a:spcPts val="500"/>
              </a:spcBef>
              <a:buFont charset="0" panose="020B0604020202020204" pitchFamily="34" typeface="Arial"/>
              <a:buChar char="•"/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indent="-228600" latinLnBrk="0" marL="3886200" rtl="0">
              <a:lnSpc>
                <a:spcPct val="90000"/>
              </a:lnSpc>
              <a:spcBef>
                <a:spcPts val="500"/>
              </a:spcBef>
              <a:buFont charset="0" panose="020B0604020202020204" pitchFamily="34" typeface="Arial"/>
              <a:buChar char="•"/>
              <a:defRPr kern="1200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85738" marL="185738"/>
            <a:r>
              <a:rPr b="1" dirty="0" lang="en-GB" sz="1100"/>
              <a:t>高级关卡完成-返回导航和任务完成</a:t>
            </a:r>
          </a:p>
          <a:p>
            <a:pPr indent="-177800" lvl="1" marL="363538"/>
            <a:r>
              <a:rPr dirty="0" lang="en-GB" sz="1100"/>
              <a:t>所有中级关卡的功能都成功实现并且稳定。</a:t>
            </a:r>
          </a:p>
          <a:p>
            <a:pPr indent="-177800" lvl="1" marL="363538"/>
            <a:r>
              <a:rPr dirty="0" lang="en-GB" sz="1100"/>
              <a:t>机器人使用路径规划算法（例如a *， DWA）规划并导航从出口点返回起始位置的路径。</a:t>
            </a:r>
          </a:p>
          <a:p>
            <a:pPr indent="-177800" lvl="1" marL="363538"/>
            <a:r>
              <a:rPr dirty="0" lang="en-GB" sz="1100"/>
              <a:t>系统保持定位，避开障碍物，并自主执行返回路径。</a:t>
            </a:r>
          </a:p>
          <a:p>
            <a:pPr indent="-177800" lvl="1" marL="363538"/>
            <a:r>
              <a:rPr dirty="0" lang="en-GB" sz="1100"/>
              <a:t>增加了高级功能，例如用户界面、实时参数调整或扩展功能（例如，自适应行为、性能分析）。</a:t>
            </a:r>
          </a:p>
        </p:txBody>
      </p:sp>
    </p:spTree>
    <p:extLst>
      <p:ext uri="{BB962C8B-B14F-4D97-AF65-F5344CB8AC3E}">
        <p14:creationId xmlns:p14="http://schemas.microsoft.com/office/powerpoint/2010/main" val="72189990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2D0B65B0-DDFF-CCAC-BE0D-5742E164E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17D6BC-DCA9-827A-E95C-6A29965F4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27" y="274638"/>
            <a:ext cx="8591566" cy="765019"/>
          </a:xfrm>
        </p:spPr>
        <p:txBody>
          <a:bodyPr/>
          <a:lstStyle/>
          <a:p>
            <a:r>
              <a:rPr dirty="0" lang="en-GB"/>
              <a:t>《设计与建造2025：评分系统》</a:t>
            </a:r>
            <a:br>
              <a:rPr dirty="0" lang="en-GB">
                <a:solidFill>
                  <a:srgbClr val="EC008C"/>
                </a:solidFill>
              </a:rPr>
            </a:br>
            <a:endParaRPr dirty="0"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A3590C-89F5-2AF6-12F7-9F9368AAA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126" y="1039656"/>
            <a:ext cx="8591566" cy="3989544"/>
          </a:xfrm>
        </p:spPr>
        <p:txBody>
          <a:bodyPr>
            <a:normAutofit lnSpcReduction="10000"/>
          </a:bodyPr>
          <a:lstStyle/>
          <a:p>
            <a:r>
              <a:rPr dirty="0" lang="en-GB"/>
              <a:t>项目评估（80分）</a:t>
            </a:r>
          </a:p>
          <a:p>
            <a:endParaRPr dirty="0" lang="en-GB" sz="1000"/>
          </a:p>
          <a:p>
            <a:endParaRPr dirty="0" lang="en-GB" sz="400"/>
          </a:p>
          <a:p>
            <a:endParaRPr dirty="0" lang="en-GB" sz="1000"/>
          </a:p>
          <a:p>
            <a:endParaRPr dirty="0" lang="en-GB" sz="1000"/>
          </a:p>
          <a:p>
            <a:endParaRPr dirty="0" lang="en-GB" sz="1200"/>
          </a:p>
          <a:p>
            <a:r>
              <a:rPr dirty="0" lang="en-GB"/>
              <a:t>竞赛（20分）</a:t>
            </a:r>
          </a:p>
          <a:p>
            <a:endParaRPr dirty="0" lang="en-GB"/>
          </a:p>
          <a:p>
            <a:endParaRPr dirty="0" lang="en-GB"/>
          </a:p>
          <a:p>
            <a:endParaRPr dirty="0" lang="en-GB"/>
          </a:p>
          <a:p>
            <a:endParaRPr dirty="0" lang="en-GB"/>
          </a:p>
          <a:p>
            <a:pPr indent="0" lvl="1" marL="457200">
              <a:buNone/>
            </a:pPr>
            <a:endParaRPr dirty="0" lang="en-GB" sz="1400"/>
          </a:p>
          <a:p>
            <a:pPr>
              <a:tabLst>
                <a:tab algn="l" pos="663575"/>
              </a:tabLst>
            </a:pPr>
            <a:r>
              <a:rPr dirty="0" lang="en-GB"/>
              <a:t>综合分数=项目分数（80分）+竞赛分数（20分）</a:t>
            </a:r>
          </a:p>
          <a:p>
            <a:pPr lvl="1">
              <a:tabLst>
                <a:tab algn="l" pos="663575"/>
              </a:tabLst>
            </a:pPr>
            <a:r>
              <a:rPr dirty="0" lang="en-GB">
                <a:solidFill>
                  <a:srgbClr val="EC008C"/>
                </a:solidFill>
              </a:rPr>
              <a:t>得分最高的前3个小组将因其在工程设计、实施质量和系统性能方面的卓越表现而获得认可。</a:t>
            </a:r>
            <a:endParaRPr dirty="0" lang="en-GB" sz="18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71C3AA-2BFC-058B-6F2C-02BC3C045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319689"/>
              </p:ext>
            </p:extLst>
          </p:nvPr>
        </p:nvGraphicFramePr>
        <p:xfrm>
          <a:off x="888864" y="1388267"/>
          <a:ext cx="7490026" cy="924164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592743">
                  <a:extLst>
                    <a:ext uri="{9D8B030D-6E8A-4147-A177-3AD203B41FA5}">
                      <a16:colId xmlns:a16="http://schemas.microsoft.com/office/drawing/2014/main" val="235580848"/>
                    </a:ext>
                  </a:extLst>
                </a:gridCol>
                <a:gridCol w="1013919">
                  <a:extLst>
                    <a:ext uri="{9D8B030D-6E8A-4147-A177-3AD203B41FA5}">
                      <a16:colId xmlns:a16="http://schemas.microsoft.com/office/drawing/2014/main" val="1499626012"/>
                    </a:ext>
                  </a:extLst>
                </a:gridCol>
                <a:gridCol w="1013919">
                  <a:extLst>
                    <a:ext uri="{9D8B030D-6E8A-4147-A177-3AD203B41FA5}">
                      <a16:colId xmlns:a16="http://schemas.microsoft.com/office/drawing/2014/main" val="1308346462"/>
                    </a:ext>
                  </a:extLst>
                </a:gridCol>
                <a:gridCol w="3869445">
                  <a:extLst>
                    <a:ext uri="{9D8B030D-6E8A-4147-A177-3AD203B41FA5}">
                      <a16:colId xmlns:a16="http://schemas.microsoft.com/office/drawing/2014/main" val="2748590306"/>
                    </a:ext>
                  </a:extLst>
                </a:gridCol>
              </a:tblGrid>
              <a:tr h="202956">
                <a:tc>
                  <a:txBody>
                    <a:bodyPr/>
                    <a:lstStyle/>
                    <a:p>
                      <a:r>
                        <a:rPr b="1" dirty="0" lang="en-GB" sz="900">
                          <a:latin charset="0" panose="020B0604020202020204" pitchFamily="34" typeface="Arial"/>
                          <a:cs charset="0" panose="020B0604020202020204" pitchFamily="34" typeface="Arial"/>
                        </a:rPr>
                        <a:t>标准</a:t>
                      </a:r>
                    </a:p>
                  </a:txBody>
                  <a:tcPr anchor="ctr">
                    <a:lnL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dirty="0" lang="en-GB" sz="900">
                          <a:latin charset="0" panose="020B0604020202020204" pitchFamily="34" typeface="Arial"/>
                          <a:cs charset="0" panose="020B0604020202020204" pitchFamily="34" typeface="Arial"/>
                        </a:rPr>
                        <a:t>重量</a:t>
                      </a:r>
                    </a:p>
                  </a:txBody>
                  <a:tcPr anchor="ctr">
                    <a:lnL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dirty="0" lang="en-GB" sz="900">
                          <a:latin charset="0" panose="020B0604020202020204" pitchFamily="34" typeface="Arial"/>
                          <a:cs charset="0" panose="020B0604020202020204" pitchFamily="34" typeface="Arial"/>
                        </a:rPr>
                        <a:t>最大点</a:t>
                      </a:r>
                    </a:p>
                  </a:txBody>
                  <a:tcPr anchor="ctr">
                    <a:lnL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b="1" dirty="0" lang="en-GB" sz="900">
                          <a:latin charset="0" panose="020B0604020202020204" pitchFamily="34" typeface="Arial"/>
                          <a:cs charset="0" panose="020B0604020202020204" pitchFamily="34" typeface="Arial"/>
                        </a:rPr>
                        <a:t>描述</a:t>
                      </a:r>
                    </a:p>
                  </a:txBody>
                  <a:tcPr anchor="ctr">
                    <a:lnL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181798"/>
                  </a:ext>
                </a:extLst>
              </a:tr>
              <a:tr h="329804">
                <a:tc>
                  <a:txBody>
                    <a:bodyPr/>
                    <a:lstStyle/>
                    <a:p>
                      <a:r>
                        <a:rPr b="0" dirty="0" lang="en-GB" sz="900">
                          <a:latin charset="0" panose="020B0604020202020204" pitchFamily="34" typeface="Arial"/>
                          <a:cs charset="0" panose="020B0604020202020204" pitchFamily="34" typeface="Arial"/>
                        </a:rPr>
                        <a:t>完成程度</a:t>
                      </a:r>
                    </a:p>
                  </a:txBody>
                  <a:tcPr anchor="ctr">
                    <a:lnL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noFill/>
                  </a:tcPr>
                </a:tc>
                <a:tc>
                  <a:txBody>
                    <a:bodyPr>
                      <a:normAutofit fontScale="70710" lnSpcReduction="10000"/>
                    </a:bodyPr>
                    <a:lstStyle/>
                    <a:p>
                      <a:pPr algn="ctr"/>
                      <a:r>
                        <a:rPr b="0" dirty="0" lang="en-GB" sz="900">
                          <a:latin charset="0" panose="020B0604020202020204" pitchFamily="34" typeface="Arial"/>
                          <a:cs charset="0" panose="020B0604020202020204" pitchFamily="34" typeface="Arial"/>
                        </a:rPr>
                        <a:t>80%</a:t>
                      </a:r>
                    </a:p>
                  </a:txBody>
                  <a:tcPr anchor="ctr">
                    <a:lnL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noFill/>
                  </a:tcPr>
                </a:tc>
                <a:tc>
                  <a:txBody>
                    <a:bodyPr>
                      <a:normAutofit fontScale="70710" lnSpcReduction="10000"/>
                    </a:bodyPr>
                    <a:lstStyle/>
                    <a:p>
                      <a:pPr algn="ctr"/>
                      <a:r>
                        <a:rPr b="0" dirty="0" lang="en-GB" sz="900">
                          <a:latin charset="0" panose="020B0604020202020204" pitchFamily="34" typeface="Arial"/>
                          <a:cs charset="0" panose="020B0604020202020204" pitchFamily="34" typeface="Arial"/>
                        </a:rPr>
                        <a:t>64</a:t>
                      </a:r>
                    </a:p>
                  </a:txBody>
                  <a:tcPr anchor="ctr">
                    <a:lnL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b="0" dirty="0" lang="en-GB" sz="900">
                          <a:latin charset="0" panose="020B0604020202020204" pitchFamily="34" typeface="Arial"/>
                          <a:cs charset="0" panose="020B0604020202020204" pitchFamily="34" typeface="Arial"/>
                        </a:rPr>
                        <a:t>根据系统工作的完整程度：基础（最多60），中级（最多64），高级（最多64）</a:t>
                      </a:r>
                    </a:p>
                  </a:txBody>
                  <a:tcPr anchor="ctr">
                    <a:lnL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371232"/>
                  </a:ext>
                </a:extLst>
              </a:tr>
              <a:tr h="329804">
                <a:tc>
                  <a:txBody>
                    <a:bodyPr/>
                    <a:lstStyle/>
                    <a:p>
                      <a:r>
                        <a:rPr b="0" dirty="0" lang="en-GB" sz="900">
                          <a:latin charset="0" panose="020B0604020202020204" pitchFamily="34" typeface="Arial"/>
                          <a:cs charset="0" panose="020B0604020202020204" pitchFamily="34" typeface="Arial"/>
                        </a:rPr>
                        <a:t>工作质量</a:t>
                      </a:r>
                    </a:p>
                  </a:txBody>
                  <a:tcPr anchor="ctr">
                    <a:lnL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noFill/>
                  </a:tcPr>
                </a:tc>
                <a:tc>
                  <a:txBody>
                    <a:bodyPr>
                      <a:normAutofit fontScale="70710" lnSpcReduction="10000"/>
                    </a:bodyPr>
                    <a:lstStyle/>
                    <a:p>
                      <a:pPr algn="ctr"/>
                      <a:r>
                        <a:rPr b="0" dirty="0" lang="en-GB" sz="900">
                          <a:latin charset="0" panose="020B0604020202020204" pitchFamily="34" typeface="Arial"/>
                          <a:cs charset="0" panose="020B0604020202020204" pitchFamily="34" typeface="Arial"/>
                        </a:rPr>
                        <a:t>20%</a:t>
                      </a:r>
                    </a:p>
                  </a:txBody>
                  <a:tcPr anchor="ctr">
                    <a:lnL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noFill/>
                  </a:tcPr>
                </a:tc>
                <a:tc>
                  <a:txBody>
                    <a:bodyPr>
                      <a:normAutofit fontScale="70710" lnSpcReduction="10000"/>
                    </a:bodyPr>
                    <a:lstStyle/>
                    <a:p>
                      <a:pPr algn="ctr"/>
                      <a:r>
                        <a:rPr b="0" dirty="0" lang="en-GB" sz="900">
                          <a:latin charset="0" panose="020B0604020202020204" pitchFamily="34" typeface="Arial"/>
                          <a:cs charset="0" panose="020B0604020202020204" pitchFamily="34" typeface="Arial"/>
                        </a:rPr>
                        <a:t>16</a:t>
                      </a:r>
                    </a:p>
                  </a:txBody>
                  <a:tcPr anchor="ctr">
                    <a:lnL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b="0" dirty="0" lang="en-GB" sz="900">
                          <a:latin charset="0" panose="020B0604020202020204" pitchFamily="34" typeface="Arial"/>
                          <a:cs charset="0" panose="020B0604020202020204" pitchFamily="34" typeface="Arial"/>
                        </a:rPr>
                        <a:t>根据创新、系统稳健性、评估、文档进行评估。</a:t>
                      </a:r>
                    </a:p>
                  </a:txBody>
                  <a:tcPr anchor="ctr">
                    <a:lnL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590791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34A439-1ABD-44C4-FD20-A9957209F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947203"/>
              </p:ext>
            </p:extLst>
          </p:nvPr>
        </p:nvGraphicFramePr>
        <p:xfrm>
          <a:off x="888864" y="2863723"/>
          <a:ext cx="7490026" cy="853062"/>
        </p:xfrm>
        <a:graphic>
          <a:graphicData uri="http://schemas.openxmlformats.org/drawingml/2006/table">
            <a:tbl>
              <a:tblPr/>
              <a:tblGrid>
                <a:gridCol w="2100521">
                  <a:extLst>
                    <a:ext uri="{9D8B030D-6E8A-4147-A177-3AD203B41FA5}">
                      <a16:colId xmlns:a16="http://schemas.microsoft.com/office/drawing/2014/main" val="532054697"/>
                    </a:ext>
                  </a:extLst>
                </a:gridCol>
                <a:gridCol w="1172307">
                  <a:extLst>
                    <a:ext uri="{9D8B030D-6E8A-4147-A177-3AD203B41FA5}">
                      <a16:colId xmlns:a16="http://schemas.microsoft.com/office/drawing/2014/main" val="2566556952"/>
                    </a:ext>
                  </a:extLst>
                </a:gridCol>
                <a:gridCol w="4217198">
                  <a:extLst>
                    <a:ext uri="{9D8B030D-6E8A-4147-A177-3AD203B41FA5}">
                      <a16:colId xmlns:a16="http://schemas.microsoft.com/office/drawing/2014/main" val="1215090657"/>
                    </a:ext>
                  </a:extLst>
                </a:gridCol>
              </a:tblGrid>
              <a:tr h="284354">
                <a:tc>
                  <a:txBody>
                    <a:bodyPr/>
                    <a:lstStyle/>
                    <a:p>
                      <a:r>
                        <a:rPr b="1" dirty="0" lang="en-GB" sz="900">
                          <a:latin charset="0" panose="020B0604020202020204" pitchFamily="34" typeface="Arial"/>
                          <a:cs charset="0" panose="020B0604020202020204" pitchFamily="34" typeface="Arial"/>
                        </a:rPr>
                        <a:t>事件</a:t>
                      </a:r>
                      <a:endParaRPr dirty="0" lang="en-GB" sz="900">
                        <a:latin charset="0" panose="020B0604020202020204" pitchFamily="34" typeface="Arial"/>
                        <a:cs charset="0" panose="020B0604020202020204" pitchFamily="34" typeface="Arial"/>
                      </a:endParaRPr>
                    </a:p>
                  </a:txBody>
                  <a:tcPr anchor="ctr">
                    <a:lnL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dirty="0" lang="en-GB" sz="900">
                          <a:latin charset="0" panose="020B0604020202020204" pitchFamily="34" typeface="Arial"/>
                          <a:cs charset="0" panose="020B0604020202020204" pitchFamily="34" typeface="Arial"/>
                        </a:rPr>
                        <a:t>最大点</a:t>
                      </a:r>
                      <a:endParaRPr dirty="0" lang="en-GB" sz="900">
                        <a:latin charset="0" panose="020B0604020202020204" pitchFamily="34" typeface="Arial"/>
                        <a:cs charset="0" panose="020B0604020202020204" pitchFamily="34" typeface="Arial"/>
                      </a:endParaRPr>
                    </a:p>
                  </a:txBody>
                  <a:tcPr anchor="ctr">
                    <a:lnL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b="1" dirty="0" lang="en-GB" sz="900">
                          <a:latin charset="0" panose="020B0604020202020204" pitchFamily="34" typeface="Arial"/>
                          <a:cs charset="0" panose="020B0604020202020204" pitchFamily="34" typeface="Arial"/>
                        </a:rPr>
                        <a:t>评分法</a:t>
                      </a:r>
                      <a:endParaRPr dirty="0" lang="en-GB" sz="900">
                        <a:latin charset="0" panose="020B0604020202020204" pitchFamily="34" typeface="Arial"/>
                        <a:cs charset="0" panose="020B0604020202020204" pitchFamily="34" typeface="Arial"/>
                      </a:endParaRPr>
                    </a:p>
                  </a:txBody>
                  <a:tcPr anchor="ctr">
                    <a:lnL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296818"/>
                  </a:ext>
                </a:extLst>
              </a:tr>
              <a:tr h="284354">
                <a:tc>
                  <a:txBody>
                    <a:bodyPr>
                      <a:normAutofit fontScale="90138" lnSpcReduction="10000"/>
                    </a:bodyPr>
                    <a:lstStyle/>
                    <a:p>
                      <a:r>
                        <a:rPr dirty="0" lang="en-GB" sz="900">
                          <a:latin charset="0" panose="020B0604020202020204" pitchFamily="34" typeface="Arial"/>
                          <a:cs charset="0" panose="020B0604020202020204" pitchFamily="34" typeface="Arial"/>
                        </a:rPr>
                        <a:t>最快时间到达Exit Point</a:t>
                      </a:r>
                    </a:p>
                  </a:txBody>
                  <a:tcPr anchor="ctr">
                    <a:lnL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noFill/>
                  </a:tcPr>
                </a:tc>
                <a:tc>
                  <a:txBody>
                    <a:bodyPr>
                      <a:normAutofit fontScale="70710" lnSpcReduction="10000"/>
                    </a:bodyPr>
                    <a:lstStyle/>
                    <a:p>
                      <a:pPr algn="ctr"/>
                      <a:r>
                        <a:rPr dirty="0" lang="en-GB" sz="900">
                          <a:latin charset="0" panose="020B0604020202020204" pitchFamily="34" typeface="Arial"/>
                          <a:cs charset="0" panose="020B0604020202020204" pitchFamily="34" typeface="Arial"/>
                        </a:rPr>
                        <a:t>10</a:t>
                      </a:r>
                    </a:p>
                  </a:txBody>
                  <a:tcPr anchor="ctr">
                    <a:lnL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noFill/>
                  </a:tcPr>
                </a:tc>
                <a:tc>
                  <a:txBody>
                    <a:bodyPr>
                      <a:normAutofit fontScale="86231" lnSpcReduction="10000"/>
                    </a:bodyPr>
                    <a:lstStyle/>
                    <a:p>
                      <a:r>
                        <a:rPr dirty="0" lang="en-GB" sz="900">
                          <a:latin charset="0" panose="020B0604020202020204" pitchFamily="34" typeface="Arial"/>
                          <a:cs charset="0" panose="020B0604020202020204" pitchFamily="34" typeface="Arial"/>
                        </a:rPr>
                        <a:t>第1 = 10分，第2 = 8分，第3 = 6分，其他= 4分，不完整= 0分</a:t>
                      </a:r>
                    </a:p>
                  </a:txBody>
                  <a:tcPr anchor="ctr">
                    <a:lnL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478525"/>
                  </a:ext>
                </a:extLst>
              </a:tr>
              <a:tr h="284354">
                <a:tc>
                  <a:txBody>
                    <a:bodyPr/>
                    <a:lstStyle/>
                    <a:p>
                      <a:r>
                        <a:rPr dirty="0" lang="en-GB" sz="900">
                          <a:latin charset="0" panose="020B0604020202020204" pitchFamily="34" typeface="Arial"/>
                          <a:cs charset="0" panose="020B0604020202020204" pitchFamily="34" typeface="Arial"/>
                        </a:rPr>
                        <a:t>最快时间回到起点</a:t>
                      </a:r>
                    </a:p>
                  </a:txBody>
                  <a:tcPr anchor="ctr">
                    <a:lnL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noFill/>
                  </a:tcPr>
                </a:tc>
                <a:tc>
                  <a:txBody>
                    <a:bodyPr>
                      <a:normAutofit fontScale="70710" lnSpcReduction="10000"/>
                    </a:bodyPr>
                    <a:lstStyle/>
                    <a:p>
                      <a:pPr algn="ctr"/>
                      <a:r>
                        <a:rPr dirty="0" lang="en-GB" sz="900">
                          <a:latin charset="0" panose="020B0604020202020204" pitchFamily="34" typeface="Arial"/>
                          <a:cs charset="0" panose="020B0604020202020204" pitchFamily="34" typeface="Arial"/>
                        </a:rPr>
                        <a:t>10</a:t>
                      </a:r>
                    </a:p>
                  </a:txBody>
                  <a:tcPr anchor="ctr">
                    <a:lnL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noFill/>
                  </a:tcPr>
                </a:tc>
                <a:tc>
                  <a:txBody>
                    <a:bodyPr>
                      <a:normAutofit fontScale="86231" lnSpcReduction="10000"/>
                    </a:bodyPr>
                    <a:lstStyle/>
                    <a:p>
                      <a:r>
                        <a:rPr dirty="0" lang="en-GB" sz="900">
                          <a:latin charset="0" panose="020B0604020202020204" pitchFamily="34" typeface="Arial"/>
                          <a:cs charset="0" panose="020B0604020202020204" pitchFamily="34" typeface="Arial"/>
                        </a:rPr>
                        <a:t>第1 = 10分，第2 = 8分，第3 = 6分，其他= 4分，不完整= 0分</a:t>
                      </a:r>
                    </a:p>
                  </a:txBody>
                  <a:tcPr anchor="ctr">
                    <a:lnL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9525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16063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1AC4CC9-4EE9-C4B1-8907-E3C299E79A82}"/>
              </a:ext>
            </a:extLst>
          </p:cNvPr>
          <p:cNvSpPr txBox="1"/>
          <p:nvPr/>
        </p:nvSpPr>
        <p:spPr>
          <a:xfrm>
            <a:off x="443386" y="3758852"/>
            <a:ext cx="72535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dirty="0" lang="en-GB" sz="900">
                <a:solidFill>
                  <a:schemeClr val="accent4"/>
                </a:solidFill>
                <a:latin charset="0" panose="020B0604020202020204" pitchFamily="34" typeface="Arial"/>
                <a:cs charset="0" panose="020B0604020202020204" pitchFamily="34" typeface="Arial"/>
              </a:rPr>
              <a:t>注：达到中级完成水平的小组有资格参加一个活动；高级水平组可同时参加两个项目。</a:t>
            </a:r>
          </a:p>
        </p:txBody>
      </p:sp>
    </p:spTree>
    <p:extLst>
      <p:ext uri="{BB962C8B-B14F-4D97-AF65-F5344CB8AC3E}">
        <p14:creationId xmlns:p14="http://schemas.microsoft.com/office/powerpoint/2010/main" val="515644584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E5725B67-9919-068F-E051-B13DABA64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7D17B2-5475-6B99-D14D-00FBD489B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27" y="274638"/>
            <a:ext cx="8591566" cy="765019"/>
          </a:xfrm>
        </p:spPr>
        <p:txBody>
          <a:bodyPr/>
          <a:lstStyle/>
          <a:p>
            <a:r>
              <a:rPr dirty="0" lang="en-GB"/>
              <a:t>设计与建造2025：模块标志</a:t>
            </a:r>
            <a:br>
              <a:rPr dirty="0" lang="en-GB"/>
            </a:br>
            <a:endParaRPr dirty="0"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F2F0DE3-D699-49AA-2020-EBD2EA613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126" y="1039656"/>
            <a:ext cx="8591566" cy="3829205"/>
          </a:xfrm>
        </p:spPr>
        <p:txBody>
          <a:bodyPr>
            <a:normAutofit fontScale="97700" lnSpcReduction="0"/>
          </a:bodyPr>
          <a:lstStyle/>
          <a:p>
            <a:r>
              <a:rPr dirty="0" lang="en-GB"/>
              <a:t>设计与建造项目（50%）</a:t>
            </a:r>
          </a:p>
          <a:p>
            <a:r>
              <a:rPr dirty="0" lang="en-GB"/>
              <a:t>北邮实验室（50%）</a:t>
            </a:r>
          </a:p>
          <a:p>
            <a:endParaRPr dirty="0" lang="en-GB"/>
          </a:p>
        </p:txBody>
      </p:sp>
    </p:spTree>
    <p:extLst>
      <p:ext uri="{BB962C8B-B14F-4D97-AF65-F5344CB8AC3E}">
        <p14:creationId xmlns:p14="http://schemas.microsoft.com/office/powerpoint/2010/main" val="864814481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F1CF2D-2281-2F02-9559-0F37B7A4328E}"/>
              </a:ext>
            </a:extLst>
          </p:cNvPr>
          <p:cNvSpPr>
            <a:spLocks noGrp="1"/>
          </p:cNvSpPr>
          <p:nvPr>
            <p:ph idx="10" sz="quarter"/>
          </p:nvPr>
        </p:nvSpPr>
        <p:spPr>
          <a:xfrm>
            <a:off x="609600" y="2118350"/>
            <a:ext cx="7924799" cy="906800"/>
          </a:xfrm>
        </p:spPr>
        <p:txBody>
          <a:bodyPr>
            <a:normAutofit fontScale="77500" lnSpcReduction="20000"/>
          </a:bodyPr>
          <a:lstStyle/>
          <a:p>
            <a:r>
              <a:rPr dirty="0" lang="en-GB">
                <a:solidFill>
                  <a:srgbClr val="FFFF00"/>
                </a:solidFill>
              </a:rPr>
              <a:t>快乐的设计和建造。</a:t>
            </a:r>
          </a:p>
          <a:p>
            <a:r>
              <a:rPr dirty="0" lang="en-GB"/>
              <a:t>祝大家度过一个充满冒险精神的夏天！</a:t>
            </a:r>
          </a:p>
        </p:txBody>
      </p:sp>
    </p:spTree>
    <p:extLst>
      <p:ext uri="{BB962C8B-B14F-4D97-AF65-F5344CB8AC3E}">
        <p14:creationId xmlns:p14="http://schemas.microsoft.com/office/powerpoint/2010/main" val="937008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hannel 4 1">
      <a:dk1>
        <a:srgbClr val="000000"/>
      </a:dk1>
      <a:lt1>
        <a:srgbClr val="FFFFFF"/>
      </a:lt1>
      <a:dk2>
        <a:srgbClr val="585858"/>
      </a:dk2>
      <a:lt2>
        <a:srgbClr val="FFFFFF"/>
      </a:lt2>
      <a:accent1>
        <a:srgbClr val="6D2B83"/>
      </a:accent1>
      <a:accent2>
        <a:srgbClr val="D0091D"/>
      </a:accent2>
      <a:accent3>
        <a:srgbClr val="FFD611"/>
      </a:accent3>
      <a:accent4>
        <a:srgbClr val="85B6E2"/>
      </a:accent4>
      <a:accent5>
        <a:srgbClr val="62CBC5"/>
      </a:accent5>
      <a:accent6>
        <a:srgbClr val="7F7878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Queen Mary">
      <a:dk1>
        <a:srgbClr val="21386A"/>
      </a:dk1>
      <a:lt1>
        <a:sysClr val="window" lastClr="FFFFFF"/>
      </a:lt1>
      <a:dk2>
        <a:srgbClr val="21386A"/>
      </a:dk2>
      <a:lt2>
        <a:srgbClr val="D8D8D8"/>
      </a:lt2>
      <a:accent1>
        <a:srgbClr val="123181"/>
      </a:accent1>
      <a:accent2>
        <a:srgbClr val="792273"/>
      </a:accent2>
      <a:accent3>
        <a:srgbClr val="2DB8C5"/>
      </a:accent3>
      <a:accent4>
        <a:srgbClr val="CDA60C"/>
      </a:accent4>
      <a:accent5>
        <a:srgbClr val="BD1C1C"/>
      </a:accent5>
      <a:accent6>
        <a:srgbClr val="73B82B"/>
      </a:accent6>
      <a:hlink>
        <a:srgbClr val="E6007E"/>
      </a:hlink>
      <a:folHlink>
        <a:srgbClr val="2DB8C5"/>
      </a:folHlink>
    </a:clrScheme>
    <a:fontScheme name="Queen Mar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17420</TotalTime>
  <Words>2013</Words>
  <Application>Microsoft Macintosh PowerPoint</Application>
  <PresentationFormat>On-screen Show (16:9)</PresentationFormat>
  <Paragraphs>212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Arial</vt:lpstr>
      <vt:lpstr>Calibri</vt:lpstr>
      <vt:lpstr>Cambria Math</vt:lpstr>
      <vt:lpstr>Source Sans Pro SemiBold</vt:lpstr>
      <vt:lpstr>Wingdings</vt:lpstr>
      <vt:lpstr>Office Theme</vt:lpstr>
      <vt:lpstr>1_Custom Design</vt:lpstr>
      <vt:lpstr>Custom Design</vt:lpstr>
      <vt:lpstr>Year 2 Short Semester  Design &amp; Build Project Summer 2025</vt:lpstr>
      <vt:lpstr>Design &amp; Build 2025: Learning Outcome </vt:lpstr>
      <vt:lpstr>Design &amp; Build 2025: General Information </vt:lpstr>
      <vt:lpstr>Design &amp; Build 2025: Project Overview </vt:lpstr>
      <vt:lpstr>Design &amp; Build 2025: Project Overview </vt:lpstr>
      <vt:lpstr>Design &amp; Build 2025: Project Overview </vt:lpstr>
      <vt:lpstr>Design &amp; Build 2025: Project Overview </vt:lpstr>
      <vt:lpstr>Design &amp; Build 2025: Development Methodology </vt:lpstr>
      <vt:lpstr>Design &amp; Build 2025: Development Methodology </vt:lpstr>
      <vt:lpstr>Design &amp; Build 2025: Deliverables </vt:lpstr>
      <vt:lpstr>Design &amp; Build 2025: Level of Completion </vt:lpstr>
      <vt:lpstr>Design &amp; Build 2025: Scoring System </vt:lpstr>
      <vt:lpstr>Design &amp; Build 2025: Module Mark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terms="http://purl.org/dc/terms/" xmlns:dc="http://purl.org/dc/elements/1.1/" xmlns:xsi="http://www.w3.org/2001/XMLSchema-instance">
  <dcterms:created xsi:type="dcterms:W3CDTF">2020-06-18T12:08:25Z</dcterms:created>
  <dc:creator>A J</dc:creator>
  <cp:lastModifiedBy>Jonathan Loo</cp:lastModifiedBy>
  <dcterms:modified xsi:type="dcterms:W3CDTF">2025-06-27T14:55:50Z</dcterms:modified>
  <cp:revision>600</cp:revision>
  <dc:title>PowerPoint Presentation</dc:title>
</cp:coreProperties>
</file>